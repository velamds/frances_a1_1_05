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0" r:id="rId4"/>
    <p:sldId id="259" r:id="rId5"/>
    <p:sldId id="258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139" d="100"/>
          <a:sy n="139" d="100"/>
        </p:scale>
        <p:origin x="-792" y="616"/>
      </p:cViewPr>
      <p:guideLst>
        <p:guide orient="horz" pos="256"/>
        <p:guide pos="3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15-08-04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15-08-04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40858" y="31050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40858" y="31685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40858" y="31685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40858" y="31685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40858" y="31685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Accurately use information about free-time activities or personal likes/dislikes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08000" y="7556500"/>
            <a:ext cx="2921000" cy="685800"/>
          </a:xfrm>
        </p:spPr>
        <p:txBody>
          <a:bodyPr/>
          <a:lstStyle/>
          <a:p>
            <a:r>
              <a:rPr lang="en-US" dirty="0"/>
              <a:t>How often do you go to a mall?</a:t>
            </a:r>
          </a:p>
          <a:p>
            <a:r>
              <a:rPr lang="en-US" dirty="0"/>
              <a:t>What do you do there?</a:t>
            </a:r>
          </a:p>
          <a:p>
            <a:r>
              <a:rPr lang="en-US" dirty="0"/>
              <a:t>Do you shop? See a film? Have lunch?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talk about likes and dislikes.</a:t>
            </a:r>
          </a:p>
          <a:p>
            <a:r>
              <a:rPr lang="en-US" dirty="0"/>
              <a:t>I can talk about activities that I do and their frequency.</a:t>
            </a:r>
          </a:p>
          <a:p>
            <a:r>
              <a:rPr lang="en-US" dirty="0"/>
              <a:t>I can talk about free time activities.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 love shopping at the mall! Do you?</a:t>
            </a:r>
          </a:p>
        </p:txBody>
      </p:sp>
      <p:pic>
        <p:nvPicPr>
          <p:cNvPr id="7" name="Picture Placeholder 6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88" r="-6888"/>
          <a:stretch>
            <a:fillRect/>
          </a:stretch>
        </p:blipFill>
        <p:spPr>
          <a:xfrm>
            <a:off x="1238250" y="3630187"/>
            <a:ext cx="4375150" cy="2561063"/>
          </a:xfrm>
        </p:spPr>
      </p:pic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00113">
              <a:tabLst>
                <a:tab pos="531813" algn="l"/>
              </a:tabLst>
            </a:pP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Why Don't We…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927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52" r="-7852"/>
          <a:stretch>
            <a:fillRect/>
          </a:stretch>
        </p:blipFill>
        <p:spPr>
          <a:xfrm>
            <a:off x="285750" y="1947668"/>
            <a:ext cx="4320514" cy="2529081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76250" y="5175250"/>
            <a:ext cx="5842000" cy="3200400"/>
          </a:xfrm>
        </p:spPr>
        <p:txBody>
          <a:bodyPr/>
          <a:lstStyle/>
          <a:p>
            <a:endParaRPr lang="en-CA" dirty="0" smtClean="0"/>
          </a:p>
          <a:p>
            <a:pPr defTabSz="627063">
              <a:tabLst>
                <a:tab pos="355600" algn="l"/>
              </a:tabLst>
            </a:pPr>
            <a:r>
              <a:rPr lang="en-CA" b="1" dirty="0" smtClean="0"/>
              <a:t>John</a:t>
            </a:r>
            <a:r>
              <a:rPr lang="en-CA" dirty="0"/>
              <a:t>: </a:t>
            </a:r>
            <a:r>
              <a:rPr lang="en-CA" dirty="0" smtClean="0"/>
              <a:t>	So</a:t>
            </a:r>
            <a:r>
              <a:rPr lang="en-CA" dirty="0"/>
              <a:t>, Sally, do you like this coffee?</a:t>
            </a:r>
          </a:p>
          <a:p>
            <a:pPr defTabSz="627063">
              <a:tabLst>
                <a:tab pos="355600" algn="l"/>
              </a:tabLst>
            </a:pPr>
            <a:r>
              <a:rPr lang="en-CA" b="1" dirty="0"/>
              <a:t>Sally</a:t>
            </a:r>
            <a:r>
              <a:rPr lang="en-CA" dirty="0"/>
              <a:t>: </a:t>
            </a:r>
            <a:r>
              <a:rPr lang="en-CA" dirty="0" smtClean="0"/>
              <a:t>	It’s </a:t>
            </a:r>
            <a:r>
              <a:rPr lang="en-CA" dirty="0"/>
              <a:t>a bit strong for me! I don’t like strong coffee.</a:t>
            </a:r>
          </a:p>
          <a:p>
            <a:pPr defTabSz="627063">
              <a:tabLst>
                <a:tab pos="355600" algn="l"/>
              </a:tabLst>
            </a:pPr>
            <a:r>
              <a:rPr lang="en-CA" b="1" dirty="0"/>
              <a:t>John</a:t>
            </a:r>
            <a:r>
              <a:rPr lang="en-CA" dirty="0"/>
              <a:t>: </a:t>
            </a:r>
            <a:r>
              <a:rPr lang="en-CA" dirty="0" smtClean="0"/>
              <a:t>	The </a:t>
            </a:r>
            <a:r>
              <a:rPr lang="en-CA" dirty="0"/>
              <a:t>mall is quiet today. Do you want to text Peter to meet us?</a:t>
            </a:r>
          </a:p>
          <a:p>
            <a:pPr defTabSz="627063">
              <a:tabLst>
                <a:tab pos="355600" algn="l"/>
              </a:tabLst>
            </a:pPr>
            <a:endParaRPr lang="en-CA" dirty="0" smtClean="0"/>
          </a:p>
          <a:p>
            <a:pPr defTabSz="627063">
              <a:tabLst>
                <a:tab pos="355600" algn="l"/>
              </a:tabLst>
            </a:pPr>
            <a:endParaRPr lang="en-CA" dirty="0" smtClean="0"/>
          </a:p>
          <a:p>
            <a:pPr defTabSz="627063">
              <a:tabLst>
                <a:tab pos="355600" algn="l"/>
              </a:tabLst>
            </a:pPr>
            <a:r>
              <a:rPr lang="en-CA" b="1" dirty="0" smtClean="0"/>
              <a:t>Sally</a:t>
            </a:r>
            <a:r>
              <a:rPr lang="en-CA" dirty="0"/>
              <a:t>: </a:t>
            </a:r>
            <a:r>
              <a:rPr lang="en-CA" dirty="0" smtClean="0"/>
              <a:t>	He </a:t>
            </a:r>
            <a:r>
              <a:rPr lang="en-CA" dirty="0"/>
              <a:t>doesn’t go to the mall often. He’s with Vanessa all the time.</a:t>
            </a:r>
          </a:p>
          <a:p>
            <a:pPr defTabSz="627063">
              <a:tabLst>
                <a:tab pos="355600" algn="l"/>
              </a:tabLst>
            </a:pPr>
            <a:r>
              <a:rPr lang="en-CA" b="1" dirty="0"/>
              <a:t>John</a:t>
            </a:r>
            <a:r>
              <a:rPr lang="en-CA" dirty="0"/>
              <a:t>: </a:t>
            </a:r>
            <a:r>
              <a:rPr lang="en-CA" dirty="0" smtClean="0"/>
              <a:t>	Text </a:t>
            </a:r>
            <a:r>
              <a:rPr lang="en-CA" dirty="0"/>
              <a:t>him anyway, he can bring Vanessa. She comes here a lot.</a:t>
            </a:r>
          </a:p>
          <a:p>
            <a:pPr defTabSz="627063">
              <a:tabLst>
                <a:tab pos="355600" algn="l"/>
              </a:tabLst>
            </a:pPr>
            <a:r>
              <a:rPr lang="en-CA" b="1" dirty="0"/>
              <a:t>Sally</a:t>
            </a:r>
            <a:r>
              <a:rPr lang="en-CA" dirty="0"/>
              <a:t>. </a:t>
            </a:r>
            <a:r>
              <a:rPr lang="en-CA" dirty="0" smtClean="0"/>
              <a:t>	Okay</a:t>
            </a:r>
            <a:r>
              <a:rPr lang="en-CA" dirty="0"/>
              <a:t>. They’re busy.</a:t>
            </a:r>
          </a:p>
          <a:p>
            <a:pPr defTabSz="627063">
              <a:tabLst>
                <a:tab pos="355600" algn="l"/>
              </a:tabLst>
            </a:pPr>
            <a:endParaRPr lang="en-CA" dirty="0" smtClean="0"/>
          </a:p>
          <a:p>
            <a:pPr defTabSz="627063">
              <a:tabLst>
                <a:tab pos="355600" algn="l"/>
              </a:tabLst>
            </a:pPr>
            <a:endParaRPr lang="en-CA" dirty="0" smtClean="0"/>
          </a:p>
          <a:p>
            <a:pPr defTabSz="627063">
              <a:tabLst>
                <a:tab pos="355600" algn="l"/>
              </a:tabLst>
            </a:pPr>
            <a:r>
              <a:rPr lang="en-CA" b="1" dirty="0" smtClean="0"/>
              <a:t>John</a:t>
            </a:r>
            <a:r>
              <a:rPr lang="en-CA" dirty="0"/>
              <a:t>: </a:t>
            </a:r>
            <a:r>
              <a:rPr lang="en-CA" dirty="0" smtClean="0"/>
              <a:t>	Let’s </a:t>
            </a:r>
            <a:r>
              <a:rPr lang="en-CA" dirty="0"/>
              <a:t>do all of our favorite things!</a:t>
            </a:r>
          </a:p>
          <a:p>
            <a:pPr defTabSz="627063">
              <a:tabLst>
                <a:tab pos="355600" algn="l"/>
              </a:tabLst>
            </a:pPr>
            <a:r>
              <a:rPr lang="en-CA" b="1" dirty="0"/>
              <a:t>Sally</a:t>
            </a:r>
            <a:r>
              <a:rPr lang="en-CA" dirty="0"/>
              <a:t>: </a:t>
            </a:r>
            <a:r>
              <a:rPr lang="en-CA" dirty="0" smtClean="0"/>
              <a:t>	Yeah</a:t>
            </a:r>
            <a:r>
              <a:rPr lang="en-CA" dirty="0"/>
              <a:t>, shopping for clothes, books and DVDs! This mall has great stores!</a:t>
            </a:r>
          </a:p>
          <a:p>
            <a:pPr defTabSz="627063">
              <a:tabLst>
                <a:tab pos="355600" algn="l"/>
              </a:tabLst>
            </a:pPr>
            <a:r>
              <a:rPr lang="en-CA" b="1" dirty="0"/>
              <a:t>John</a:t>
            </a:r>
            <a:r>
              <a:rPr lang="en-CA" dirty="0"/>
              <a:t>: </a:t>
            </a:r>
            <a:r>
              <a:rPr lang="en-CA" dirty="0" smtClean="0"/>
              <a:t>	We </a:t>
            </a:r>
            <a:r>
              <a:rPr lang="en-CA" dirty="0"/>
              <a:t>can eat out - both lunch and dinner! </a:t>
            </a:r>
          </a:p>
          <a:p>
            <a:pPr defTabSz="627063">
              <a:tabLst>
                <a:tab pos="355600" algn="l"/>
              </a:tabLst>
            </a:pPr>
            <a:endParaRPr lang="en-CA" dirty="0" smtClean="0"/>
          </a:p>
          <a:p>
            <a:pPr defTabSz="627063">
              <a:tabLst>
                <a:tab pos="355600" algn="l"/>
              </a:tabLst>
            </a:pPr>
            <a:endParaRPr lang="en-CA" b="1" dirty="0"/>
          </a:p>
          <a:p>
            <a:pPr defTabSz="627063">
              <a:tabLst>
                <a:tab pos="355600" algn="l"/>
              </a:tabLst>
            </a:pPr>
            <a:r>
              <a:rPr lang="en-CA" b="1" dirty="0" smtClean="0"/>
              <a:t>Sally</a:t>
            </a:r>
            <a:r>
              <a:rPr lang="en-CA" dirty="0"/>
              <a:t>: </a:t>
            </a:r>
            <a:r>
              <a:rPr lang="en-CA" dirty="0" smtClean="0"/>
              <a:t>	Then </a:t>
            </a:r>
            <a:r>
              <a:rPr lang="en-CA" dirty="0"/>
              <a:t>see a movie!</a:t>
            </a:r>
          </a:p>
          <a:p>
            <a:pPr defTabSz="627063">
              <a:tabLst>
                <a:tab pos="355600" algn="l"/>
              </a:tabLst>
            </a:pPr>
            <a:r>
              <a:rPr lang="en-CA" b="1" dirty="0"/>
              <a:t>John</a:t>
            </a:r>
            <a:r>
              <a:rPr lang="en-CA" dirty="0"/>
              <a:t>: </a:t>
            </a:r>
            <a:r>
              <a:rPr lang="en-CA" dirty="0" smtClean="0"/>
              <a:t>	Everything </a:t>
            </a:r>
            <a:r>
              <a:rPr lang="en-CA" dirty="0"/>
              <a:t>I like to do in my free time!</a:t>
            </a:r>
          </a:p>
          <a:p>
            <a:pPr defTabSz="627063">
              <a:tabLst>
                <a:tab pos="355600" algn="l"/>
              </a:tabLst>
            </a:pPr>
            <a:r>
              <a:rPr lang="en-CA" b="1" dirty="0"/>
              <a:t>Sally</a:t>
            </a:r>
            <a:r>
              <a:rPr lang="en-CA" dirty="0"/>
              <a:t>: </a:t>
            </a:r>
            <a:r>
              <a:rPr lang="en-CA" dirty="0" smtClean="0"/>
              <a:t>	Let’s </a:t>
            </a:r>
            <a:r>
              <a:rPr lang="en-CA" dirty="0"/>
              <a:t>start at that store over there!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469900" y="4867275"/>
            <a:ext cx="5848350" cy="228600"/>
          </a:xfrm>
        </p:spPr>
        <p:txBody>
          <a:bodyPr/>
          <a:lstStyle/>
          <a:p>
            <a:r>
              <a:rPr lang="en-CA" sz="1000" dirty="0" smtClean="0"/>
              <a:t>Instructions: Read the dialogue aloud.</a:t>
            </a:r>
            <a:endParaRPr lang="en-CA" sz="1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John and Sally </a:t>
            </a:r>
            <a:r>
              <a:rPr lang="en-CA" dirty="0" smtClean="0"/>
              <a:t>spend* </a:t>
            </a:r>
            <a:r>
              <a:rPr lang="en-CA" dirty="0"/>
              <a:t>their free </a:t>
            </a:r>
            <a:r>
              <a:rPr lang="en-CA" dirty="0" smtClean="0"/>
              <a:t>time** </a:t>
            </a:r>
            <a:r>
              <a:rPr lang="en-CA" dirty="0"/>
              <a:t>at the mall!</a:t>
            </a:r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4446539" y="1949527"/>
            <a:ext cx="1681212" cy="10412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CA" sz="900" i="1" dirty="0" smtClean="0"/>
              <a:t>*”Spend”</a:t>
            </a:r>
            <a:r>
              <a:rPr lang="en-CA" sz="900" dirty="0" smtClean="0"/>
              <a:t> is a verb you can use with time.</a:t>
            </a:r>
            <a:endParaRPr lang="en-CA" sz="900" i="1" dirty="0" smtClean="0"/>
          </a:p>
          <a:p>
            <a:pPr marL="0" indent="0"/>
            <a:endParaRPr lang="en-CA" sz="900" i="1" dirty="0" smtClean="0"/>
          </a:p>
          <a:p>
            <a:pPr marL="0" indent="0"/>
            <a:r>
              <a:rPr lang="en-CA" sz="900" i="1" dirty="0" smtClean="0"/>
              <a:t>**</a:t>
            </a:r>
            <a:r>
              <a:rPr lang="en-CA" sz="900" dirty="0" smtClean="0"/>
              <a:t>In your </a:t>
            </a:r>
            <a:r>
              <a:rPr lang="en-CA" sz="900" i="1" dirty="0" smtClean="0"/>
              <a:t>“free time”</a:t>
            </a:r>
            <a:r>
              <a:rPr lang="en-CA" sz="900" dirty="0"/>
              <a:t> you can do any activity you want to do.</a:t>
            </a:r>
            <a:endParaRPr lang="en-CA" sz="900" i="1" dirty="0"/>
          </a:p>
        </p:txBody>
      </p:sp>
      <p:sp>
        <p:nvSpPr>
          <p:cNvPr id="7" name="Rectangle 6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00113">
              <a:tabLst>
                <a:tab pos="531813" algn="l"/>
              </a:tabLst>
            </a:pP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Why Don't We…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3493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9900" y="1650334"/>
            <a:ext cx="5861050" cy="412750"/>
          </a:xfrm>
        </p:spPr>
        <p:txBody>
          <a:bodyPr/>
          <a:lstStyle/>
          <a:p>
            <a:r>
              <a:rPr lang="en-US" dirty="0"/>
              <a:t>What are John and Sally doing today?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79037" y="5061375"/>
            <a:ext cx="5861050" cy="412750"/>
          </a:xfrm>
        </p:spPr>
        <p:txBody>
          <a:bodyPr/>
          <a:lstStyle/>
          <a:p>
            <a:r>
              <a:rPr lang="en-US" dirty="0"/>
              <a:t>What do you do in your free time?</a:t>
            </a:r>
          </a:p>
        </p:txBody>
      </p:sp>
      <p:sp>
        <p:nvSpPr>
          <p:cNvPr id="8" name="Text Placeholder 64"/>
          <p:cNvSpPr txBox="1">
            <a:spLocks/>
          </p:cNvSpPr>
          <p:nvPr/>
        </p:nvSpPr>
        <p:spPr>
          <a:xfrm>
            <a:off x="482600" y="2094834"/>
            <a:ext cx="5848350" cy="2286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Instructions: Read the dialogue </a:t>
            </a:r>
            <a:r>
              <a:rPr lang="en-US" sz="1000" smtClean="0"/>
              <a:t>again. Select </a:t>
            </a:r>
            <a:r>
              <a:rPr lang="en-US" sz="1000" dirty="0"/>
              <a:t>the correct answer.</a:t>
            </a:r>
          </a:p>
        </p:txBody>
      </p:sp>
      <p:sp>
        <p:nvSpPr>
          <p:cNvPr id="9" name="Text Placeholder 64"/>
          <p:cNvSpPr txBox="1">
            <a:spLocks/>
          </p:cNvSpPr>
          <p:nvPr/>
        </p:nvSpPr>
        <p:spPr>
          <a:xfrm>
            <a:off x="472880" y="5490022"/>
            <a:ext cx="5848350" cy="2286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Instructions: Write the words in the correct category.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00113">
              <a:tabLst>
                <a:tab pos="531813" algn="l"/>
              </a:tabLst>
            </a:pP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Why Don't We…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032411" y="2512716"/>
            <a:ext cx="416619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Sally and John like to...</a:t>
            </a:r>
          </a:p>
          <a:p>
            <a:endParaRPr lang="en-US" sz="1000" dirty="0"/>
          </a:p>
          <a:p>
            <a:pPr marL="171450" indent="-171450">
              <a:buFont typeface="Wingdings" charset="2"/>
              <a:buChar char="q"/>
            </a:pPr>
            <a:r>
              <a:rPr lang="en-US" sz="1000" dirty="0"/>
              <a:t>go sightseeing.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000" dirty="0"/>
              <a:t>go shopping.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000" dirty="0"/>
              <a:t>drink strong coffee.</a:t>
            </a:r>
          </a:p>
          <a:p>
            <a:pPr marL="171450" indent="-171450">
              <a:buFont typeface="Wingdings" charset="2"/>
              <a:buChar char="q"/>
            </a:pPr>
            <a:endParaRPr lang="en-US" sz="1000" dirty="0"/>
          </a:p>
          <a:p>
            <a:r>
              <a:rPr lang="en-US" sz="1000" dirty="0"/>
              <a:t>In their free time, Sally and John…</a:t>
            </a:r>
          </a:p>
          <a:p>
            <a:endParaRPr lang="en-US" sz="1000" dirty="0"/>
          </a:p>
          <a:p>
            <a:pPr marL="171450" indent="-171450">
              <a:buFont typeface="Wingdings" charset="2"/>
              <a:buChar char="q"/>
            </a:pPr>
            <a:r>
              <a:rPr lang="en-US" sz="1000" dirty="0"/>
              <a:t>eat out.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000" dirty="0"/>
              <a:t>have a quiet day.</a:t>
            </a:r>
          </a:p>
          <a:p>
            <a:pPr marL="171450" indent="-171450">
              <a:buFont typeface="Wingdings" charset="2"/>
              <a:buChar char="q"/>
            </a:pPr>
            <a:r>
              <a:rPr lang="en-US" sz="1000" dirty="0"/>
              <a:t>walk in the park.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6180" y="7680561"/>
            <a:ext cx="46626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shop </a:t>
            </a:r>
            <a:r>
              <a:rPr lang="en-US" sz="1000" dirty="0"/>
              <a:t>for </a:t>
            </a:r>
            <a:r>
              <a:rPr lang="en-US" sz="1000" dirty="0" smtClean="0"/>
              <a:t>books       go </a:t>
            </a:r>
            <a:r>
              <a:rPr lang="en-US" sz="1000" dirty="0"/>
              <a:t>out for dinner   </a:t>
            </a:r>
            <a:r>
              <a:rPr lang="en-US" sz="1000" dirty="0" smtClean="0"/>
              <a:t>       get </a:t>
            </a:r>
            <a:r>
              <a:rPr lang="en-US" sz="1000" dirty="0"/>
              <a:t>up at 7 a.m.</a:t>
            </a:r>
          </a:p>
          <a:p>
            <a:r>
              <a:rPr lang="en-US" sz="1000" dirty="0"/>
              <a:t>go to the </a:t>
            </a:r>
            <a:r>
              <a:rPr lang="en-US" sz="1000" dirty="0" smtClean="0"/>
              <a:t>gym        drive </a:t>
            </a:r>
            <a:r>
              <a:rPr lang="en-US" sz="1000" dirty="0"/>
              <a:t>to </a:t>
            </a:r>
            <a:r>
              <a:rPr lang="en-US" sz="1000" dirty="0" smtClean="0"/>
              <a:t>work               see </a:t>
            </a:r>
            <a:r>
              <a:rPr lang="en-US" sz="1000" dirty="0"/>
              <a:t>a movie </a:t>
            </a:r>
            <a:endParaRPr lang="en-US" sz="1000" dirty="0" smtClean="0"/>
          </a:p>
          <a:p>
            <a:r>
              <a:rPr lang="en-US" sz="1000" dirty="0" smtClean="0"/>
              <a:t>have lunch             go </a:t>
            </a:r>
            <a:r>
              <a:rPr lang="en-US" sz="1000" dirty="0"/>
              <a:t>the the </a:t>
            </a:r>
            <a:r>
              <a:rPr lang="en-US" sz="1000" dirty="0" smtClean="0"/>
              <a:t>mall</a:t>
            </a:r>
            <a:endParaRPr lang="en-US" sz="1000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0674"/>
              </p:ext>
            </p:extLst>
          </p:nvPr>
        </p:nvGraphicFramePr>
        <p:xfrm>
          <a:off x="548183" y="5853102"/>
          <a:ext cx="5481832" cy="1691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742"/>
                <a:gridCol w="2746090"/>
              </a:tblGrid>
              <a:tr h="277924"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     Free Time Activities </a:t>
                      </a:r>
                      <a:endParaRPr lang="en-US" sz="10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/>
                        <a:t>   Routine Activities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  <a:tr h="1413103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01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95300" y="5537200"/>
            <a:ext cx="2882900" cy="1644650"/>
          </a:xfrm>
        </p:spPr>
        <p:txBody>
          <a:bodyPr/>
          <a:lstStyle/>
          <a:p>
            <a:r>
              <a:rPr lang="en-CA" b="1" dirty="0"/>
              <a:t>strong </a:t>
            </a:r>
            <a:r>
              <a:rPr lang="en-CA" dirty="0"/>
              <a:t>(adjective</a:t>
            </a:r>
            <a:r>
              <a:rPr lang="en-CA" dirty="0" smtClean="0"/>
              <a:t>): </a:t>
            </a:r>
            <a:r>
              <a:rPr lang="en-CA" dirty="0"/>
              <a:t>a powerful taste</a:t>
            </a:r>
            <a:br>
              <a:rPr lang="en-CA" dirty="0"/>
            </a:br>
            <a:r>
              <a:rPr lang="en-CA" dirty="0" smtClean="0"/>
              <a:t>e.g. I </a:t>
            </a:r>
            <a:r>
              <a:rPr lang="en-CA" dirty="0"/>
              <a:t>don’t like strong coffee. </a:t>
            </a:r>
            <a:endParaRPr lang="en-CA" dirty="0" smtClean="0"/>
          </a:p>
          <a:p>
            <a:r>
              <a:rPr lang="en-CA" b="1" dirty="0" smtClean="0"/>
              <a:t>anyway</a:t>
            </a:r>
            <a:r>
              <a:rPr lang="en-CA" dirty="0" smtClean="0"/>
              <a:t>: (adverb) that </a:t>
            </a:r>
            <a:r>
              <a:rPr lang="en-CA" dirty="0"/>
              <a:t>doesn’t </a:t>
            </a:r>
            <a:r>
              <a:rPr lang="en-CA" dirty="0" smtClean="0"/>
              <a:t>matter</a:t>
            </a:r>
            <a:r>
              <a:rPr lang="en-CA" dirty="0"/>
              <a:t/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He </a:t>
            </a:r>
            <a:r>
              <a:rPr lang="en-CA" dirty="0"/>
              <a:t>doesn’t like going to the movies, but ask him anyway. </a:t>
            </a:r>
            <a:endParaRPr lang="en-CA" dirty="0" smtClean="0"/>
          </a:p>
          <a:p>
            <a:r>
              <a:rPr lang="en-CA" b="1" dirty="0" smtClean="0"/>
              <a:t>to </a:t>
            </a:r>
            <a:r>
              <a:rPr lang="en-CA" b="1" dirty="0"/>
              <a:t>eat out </a:t>
            </a:r>
            <a:r>
              <a:rPr lang="en-CA" dirty="0"/>
              <a:t>(expression</a:t>
            </a:r>
            <a:r>
              <a:rPr lang="en-CA" dirty="0" smtClean="0"/>
              <a:t>): </a:t>
            </a:r>
            <a:r>
              <a:rPr lang="en-CA" dirty="0"/>
              <a:t>to have a meal at a restaurant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Let’s </a:t>
            </a:r>
            <a:r>
              <a:rPr lang="en-CA" dirty="0"/>
              <a:t>eat dinner out at Mario’s tonight!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b="1" dirty="0"/>
              <a:t>often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many times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We </a:t>
            </a:r>
            <a:r>
              <a:rPr lang="en-CA" dirty="0"/>
              <a:t>often go to the mall. </a:t>
            </a:r>
            <a:endParaRPr lang="en-CA" dirty="0" smtClean="0"/>
          </a:p>
          <a:p>
            <a:r>
              <a:rPr lang="en-CA" b="1" dirty="0" smtClean="0"/>
              <a:t>a </a:t>
            </a:r>
            <a:r>
              <a:rPr lang="en-CA" b="1" dirty="0"/>
              <a:t>lot </a:t>
            </a:r>
            <a:r>
              <a:rPr lang="en-CA" dirty="0"/>
              <a:t>(expression</a:t>
            </a:r>
            <a:r>
              <a:rPr lang="en-CA" dirty="0" smtClean="0"/>
              <a:t>): </a:t>
            </a:r>
            <a:r>
              <a:rPr lang="en-CA" dirty="0"/>
              <a:t>a large number of times.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They </a:t>
            </a:r>
            <a:r>
              <a:rPr lang="en-CA" dirty="0"/>
              <a:t>go to the museum a lot! </a:t>
            </a:r>
            <a:endParaRPr lang="en-CA" dirty="0" smtClean="0"/>
          </a:p>
          <a:p>
            <a:r>
              <a:rPr lang="en-CA" b="1" dirty="0" smtClean="0"/>
              <a:t>all </a:t>
            </a:r>
            <a:r>
              <a:rPr lang="en-CA" b="1" dirty="0"/>
              <a:t>the time </a:t>
            </a:r>
            <a:r>
              <a:rPr lang="en-CA" dirty="0"/>
              <a:t>(expression</a:t>
            </a:r>
            <a:r>
              <a:rPr lang="en-CA" dirty="0" smtClean="0"/>
              <a:t>): </a:t>
            </a:r>
            <a:r>
              <a:rPr lang="en-CA" dirty="0"/>
              <a:t>regularly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I </a:t>
            </a:r>
            <a:r>
              <a:rPr lang="en-CA" dirty="0"/>
              <a:t>have sandwiches for lunch all the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00113">
              <a:tabLst>
                <a:tab pos="531813" algn="l"/>
              </a:tabLst>
            </a:pP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Why Don't We…</a:t>
            </a:r>
            <a:endParaRPr lang="en-US" sz="1200" dirty="0"/>
          </a:p>
        </p:txBody>
      </p:sp>
      <p:sp>
        <p:nvSpPr>
          <p:cNvPr id="7" name="TextBox 4"/>
          <p:cNvSpPr txBox="1"/>
          <p:nvPr/>
        </p:nvSpPr>
        <p:spPr>
          <a:xfrm>
            <a:off x="484705" y="2403338"/>
            <a:ext cx="2910594" cy="1926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endParaRPr lang="en-US" sz="1000" dirty="0"/>
          </a:p>
          <a:p>
            <a:pPr marL="228600" indent="-228600">
              <a:buFont typeface="+mj-lt"/>
              <a:buAutoNum type="alphaLcParenR"/>
            </a:pPr>
            <a:r>
              <a:rPr lang="en-US" sz="1000" dirty="0"/>
              <a:t>Go to your favorite shopping mall or shopping area.</a:t>
            </a: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US" sz="1000" dirty="0" smtClean="0"/>
              <a:t>Make </a:t>
            </a:r>
            <a:r>
              <a:rPr lang="en-US" sz="1000" dirty="0"/>
              <a:t>a list of things you can do there.</a:t>
            </a: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US" sz="1000" dirty="0"/>
              <a:t>Find the English words for activities.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US" sz="1000" dirty="0"/>
              <a:t>Invite a friend to go there and do something with you.</a:t>
            </a: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US" sz="1000" dirty="0"/>
              <a:t>Write two or three sentences.</a:t>
            </a:r>
          </a:p>
          <a:p>
            <a:pPr marL="228600" indent="-228600">
              <a:lnSpc>
                <a:spcPct val="150000"/>
              </a:lnSpc>
              <a:buFont typeface="+mj-lt"/>
              <a:buAutoNum type="alphaLcParenR"/>
            </a:pPr>
            <a:r>
              <a:rPr lang="en-US" sz="1000" dirty="0"/>
              <a:t>Practice the sentences out loud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grpSp>
        <p:nvGrpSpPr>
          <p:cNvPr id="8" name="Grupo 1"/>
          <p:cNvGrpSpPr/>
          <p:nvPr/>
        </p:nvGrpSpPr>
        <p:grpSpPr>
          <a:xfrm>
            <a:off x="3578918" y="2406281"/>
            <a:ext cx="2971871" cy="2299350"/>
            <a:chOff x="3448051" y="2431712"/>
            <a:chExt cx="2904574" cy="2009137"/>
          </a:xfrm>
        </p:grpSpPr>
        <p:grpSp>
          <p:nvGrpSpPr>
            <p:cNvPr id="9" name="Group 5"/>
            <p:cNvGrpSpPr/>
            <p:nvPr/>
          </p:nvGrpSpPr>
          <p:grpSpPr>
            <a:xfrm>
              <a:off x="5507177" y="2550329"/>
              <a:ext cx="701770" cy="1655321"/>
              <a:chOff x="5507177" y="6341645"/>
              <a:chExt cx="701770" cy="1655321"/>
            </a:xfrm>
          </p:grpSpPr>
          <p:sp>
            <p:nvSpPr>
              <p:cNvPr id="12" name="Shape 193"/>
              <p:cNvSpPr/>
              <p:nvPr/>
            </p:nvSpPr>
            <p:spPr>
              <a:xfrm>
                <a:off x="5507177" y="6341645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Y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es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Shape 194"/>
              <p:cNvSpPr/>
              <p:nvPr/>
            </p:nvSpPr>
            <p:spPr>
              <a:xfrm>
                <a:off x="5928147" y="6348117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N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o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Shape 200"/>
              <p:cNvSpPr/>
              <p:nvPr/>
            </p:nvSpPr>
            <p:spPr>
              <a:xfrm>
                <a:off x="5516805" y="6702850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Shape 201"/>
              <p:cNvSpPr/>
              <p:nvPr/>
            </p:nvSpPr>
            <p:spPr>
              <a:xfrm>
                <a:off x="5934497" y="6700878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 202"/>
              <p:cNvSpPr/>
              <p:nvPr/>
            </p:nvSpPr>
            <p:spPr>
              <a:xfrm>
                <a:off x="5513528" y="7044572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7" name="Shape 203"/>
              <p:cNvSpPr/>
              <p:nvPr/>
            </p:nvSpPr>
            <p:spPr>
              <a:xfrm>
                <a:off x="5933101" y="7042998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" name="Shape 204"/>
              <p:cNvSpPr/>
              <p:nvPr/>
            </p:nvSpPr>
            <p:spPr>
              <a:xfrm>
                <a:off x="5514557" y="7384779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" name="Shape 205"/>
              <p:cNvSpPr/>
              <p:nvPr/>
            </p:nvSpPr>
            <p:spPr>
              <a:xfrm>
                <a:off x="5933102" y="7383241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" name="Shape 204"/>
              <p:cNvSpPr/>
              <p:nvPr/>
            </p:nvSpPr>
            <p:spPr>
              <a:xfrm>
                <a:off x="5533564" y="7726966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1" name="Shape 205"/>
              <p:cNvSpPr/>
              <p:nvPr/>
            </p:nvSpPr>
            <p:spPr>
              <a:xfrm>
                <a:off x="5926765" y="7725428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10" name="Shape 225"/>
            <p:cNvSpPr/>
            <p:nvPr/>
          </p:nvSpPr>
          <p:spPr>
            <a:xfrm>
              <a:off x="3591738" y="2602735"/>
              <a:ext cx="1774107" cy="183811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685800">
                <a:buSzPct val="100000"/>
              </a:pPr>
              <a:r>
                <a: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Self </a:t>
              </a:r>
              <a:r>
                <a:rPr lang="en-US" sz="11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Assessment</a:t>
              </a:r>
            </a:p>
            <a:p>
              <a:pPr algn="l" defTabSz="685800">
                <a:lnSpc>
                  <a:spcPct val="70000"/>
                </a:lnSpc>
                <a:buSzPct val="100000"/>
              </a:pPr>
              <a:endPara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endParaRPr>
            </a:p>
            <a:p>
              <a:pPr fontAlgn="base"/>
              <a:r>
                <a:rPr lang="en-US" sz="1000" dirty="0"/>
                <a:t>I make a list of </a:t>
              </a:r>
              <a:r>
                <a:rPr lang="en-US" sz="1000" dirty="0" smtClean="0"/>
                <a:t>things to do at the shopping mall</a:t>
              </a:r>
              <a:r>
                <a:rPr lang="en-US" sz="1000" dirty="0" smtClean="0"/>
                <a:t>.</a:t>
              </a:r>
              <a:endParaRPr lang="en-US" sz="1000" dirty="0" smtClean="0"/>
            </a:p>
            <a:p>
              <a:pPr fontAlgn="base">
                <a:lnSpc>
                  <a:spcPct val="90000"/>
                </a:lnSpc>
              </a:pPr>
              <a:endParaRPr lang="en-US" sz="1000" dirty="0"/>
            </a:p>
            <a:p>
              <a:pPr fontAlgn="base"/>
              <a:r>
                <a:rPr lang="en-US" sz="1000" dirty="0"/>
                <a:t>I look for English </a:t>
              </a:r>
              <a:r>
                <a:rPr lang="en-US" sz="1000" dirty="0" smtClean="0"/>
                <a:t>words for the activities at the mall.</a:t>
              </a:r>
              <a:endParaRPr lang="en-US" sz="1000" dirty="0" smtClean="0"/>
            </a:p>
            <a:p>
              <a:pPr fontAlgn="base">
                <a:lnSpc>
                  <a:spcPct val="120000"/>
                </a:lnSpc>
              </a:pPr>
              <a:endParaRPr lang="en-US" sz="1000" dirty="0"/>
            </a:p>
            <a:p>
              <a:pPr fontAlgn="base"/>
              <a:r>
                <a:rPr lang="en-US" sz="1000" dirty="0"/>
                <a:t>I use 3 target </a:t>
              </a:r>
              <a:r>
                <a:rPr lang="en-US" sz="1000" dirty="0" smtClean="0"/>
                <a:t>words.</a:t>
              </a:r>
              <a:endParaRPr lang="en-US" sz="1000" dirty="0" smtClean="0"/>
            </a:p>
            <a:p>
              <a:pPr fontAlgn="base"/>
              <a:endParaRPr lang="en-US" sz="1000" dirty="0"/>
            </a:p>
            <a:p>
              <a:pPr fontAlgn="base"/>
              <a:r>
                <a:rPr lang="en-US" sz="1000" dirty="0"/>
                <a:t>I </a:t>
              </a:r>
              <a:r>
                <a:rPr lang="en-US" sz="1000" dirty="0" smtClean="0"/>
                <a:t>practice saying my sentences</a:t>
              </a:r>
              <a:endParaRPr lang="en-US" sz="1000" dirty="0"/>
            </a:p>
          </p:txBody>
        </p:sp>
        <p:sp>
          <p:nvSpPr>
            <p:cNvPr id="11" name="Rounded Rectangle 6"/>
            <p:cNvSpPr/>
            <p:nvPr/>
          </p:nvSpPr>
          <p:spPr>
            <a:xfrm>
              <a:off x="3448051" y="2431712"/>
              <a:ext cx="2904574" cy="1888630"/>
            </a:xfrm>
            <a:prstGeom prst="roundRect">
              <a:avLst>
                <a:gd name="adj" fmla="val 11375"/>
              </a:avLst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2" name="Rectangle 3"/>
          <p:cNvSpPr/>
          <p:nvPr/>
        </p:nvSpPr>
        <p:spPr>
          <a:xfrm>
            <a:off x="482659" y="1623085"/>
            <a:ext cx="4832569" cy="569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Let’s explore a mall or shopping area.</a:t>
            </a:r>
          </a:p>
          <a:p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Instructions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following steps. 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Self Assessment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CA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14500" y="3971836"/>
            <a:ext cx="3429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0408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69900" y="1666875"/>
            <a:ext cx="5226050" cy="412750"/>
          </a:xfrm>
        </p:spPr>
        <p:txBody>
          <a:bodyPr/>
          <a:lstStyle/>
          <a:p>
            <a:r>
              <a:rPr lang="en-CA" b="1" dirty="0"/>
              <a:t>Free Time Activities and Routine Activities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41740" y="2111710"/>
            <a:ext cx="5154209" cy="609600"/>
          </a:xfrm>
        </p:spPr>
        <p:txBody>
          <a:bodyPr/>
          <a:lstStyle/>
          <a:p>
            <a:r>
              <a:rPr lang="en-CA" dirty="0"/>
              <a:t>Free time activities are things you do when you have the time.</a:t>
            </a:r>
          </a:p>
          <a:p>
            <a:r>
              <a:rPr lang="en-CA" dirty="0" smtClean="0"/>
              <a:t>They </a:t>
            </a:r>
            <a:r>
              <a:rPr lang="en-CA" dirty="0"/>
              <a:t>are not routine activities.</a:t>
            </a:r>
          </a:p>
          <a:p>
            <a:r>
              <a:rPr lang="en-CA" dirty="0" smtClean="0"/>
              <a:t>Routine </a:t>
            </a:r>
            <a:r>
              <a:rPr lang="en-CA" dirty="0"/>
              <a:t>activities are things you do every day or every week.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Why Don't We…</a:t>
            </a:r>
            <a:endParaRPr lang="en-US" sz="12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104296"/>
              </p:ext>
            </p:extLst>
          </p:nvPr>
        </p:nvGraphicFramePr>
        <p:xfrm>
          <a:off x="1879856" y="3001678"/>
          <a:ext cx="3098288" cy="1657193"/>
        </p:xfrm>
        <a:graphic>
          <a:graphicData uri="http://schemas.openxmlformats.org/drawingml/2006/table">
            <a:tbl>
              <a:tblPr/>
              <a:tblGrid>
                <a:gridCol w="1590516"/>
                <a:gridCol w="1507772"/>
              </a:tblGrid>
              <a:tr h="392273">
                <a:tc>
                  <a:txBody>
                    <a:bodyPr/>
                    <a:lstStyle/>
                    <a:p>
                      <a:r>
                        <a:rPr lang="en-CA" sz="1000" b="1" dirty="0" smtClean="0">
                          <a:solidFill>
                            <a:schemeClr val="tx1"/>
                          </a:solidFill>
                        </a:rPr>
                        <a:t>Free</a:t>
                      </a:r>
                      <a:r>
                        <a:rPr lang="en-CA" sz="1000" b="1" baseline="0" dirty="0" smtClean="0">
                          <a:solidFill>
                            <a:schemeClr val="tx1"/>
                          </a:solidFill>
                        </a:rPr>
                        <a:t> Time </a:t>
                      </a:r>
                      <a:r>
                        <a:rPr lang="en-CA" sz="1000" b="1" dirty="0" smtClean="0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en-CA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b="1" dirty="0" smtClean="0">
                          <a:solidFill>
                            <a:schemeClr val="tx1"/>
                          </a:solidFill>
                        </a:rPr>
                        <a:t>Routine Activities</a:t>
                      </a:r>
                      <a:endParaRPr lang="en-CA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6024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o to the movies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o for a walk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go to a sports game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CA" sz="1000" i="1" dirty="0" err="1" smtClean="0">
                          <a:solidFill>
                            <a:schemeClr val="tx1"/>
                          </a:solidFill>
                        </a:rPr>
                        <a:t>isten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 to music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o to a museum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CA" sz="1000" i="1" dirty="0" err="1" smtClean="0">
                          <a:solidFill>
                            <a:schemeClr val="tx1"/>
                          </a:solidFill>
                        </a:rPr>
                        <a:t>isit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 an</a:t>
                      </a:r>
                      <a:r>
                        <a:rPr lang="en-CA" sz="10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art gallery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o to a music festival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CA" sz="1000" i="1" dirty="0" err="1" smtClean="0">
                          <a:solidFill>
                            <a:schemeClr val="tx1"/>
                          </a:solidFill>
                        </a:rPr>
                        <a:t>tudy</a:t>
                      </a:r>
                      <a:endParaRPr lang="en-CA" sz="1000" i="1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hop for food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o to school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CA" sz="1000" i="1" dirty="0" err="1" smtClean="0">
                          <a:solidFill>
                            <a:schemeClr val="tx1"/>
                          </a:solidFill>
                        </a:rPr>
                        <a:t>ake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 the bus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o to the gym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at lunch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1000" i="1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rive to work</a:t>
                      </a:r>
                      <a:endParaRPr lang="en-CA" sz="10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Placeholder 5"/>
          <p:cNvSpPr txBox="1">
            <a:spLocks/>
          </p:cNvSpPr>
          <p:nvPr/>
        </p:nvSpPr>
        <p:spPr>
          <a:xfrm>
            <a:off x="616082" y="5738207"/>
            <a:ext cx="4956342" cy="1098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 smtClean="0"/>
              <a:t>Expressions of Frequency</a:t>
            </a:r>
            <a:endParaRPr lang="en-CA" dirty="0" smtClean="0"/>
          </a:p>
          <a:p>
            <a:endParaRPr lang="en-CA" dirty="0"/>
          </a:p>
          <a:p>
            <a:r>
              <a:rPr lang="en-CA" dirty="0" smtClean="0"/>
              <a:t>To </a:t>
            </a:r>
            <a:r>
              <a:rPr lang="en-CA" dirty="0"/>
              <a:t>talk about how often something happens, you use </a:t>
            </a:r>
            <a:r>
              <a:rPr lang="en-CA" dirty="0" smtClean="0"/>
              <a:t>an </a:t>
            </a:r>
            <a:r>
              <a:rPr lang="en-CA" dirty="0"/>
              <a:t>expression of frequency. </a:t>
            </a:r>
            <a:br>
              <a:rPr lang="en-CA" dirty="0"/>
            </a:br>
            <a:endParaRPr lang="en-CA" dirty="0" smtClean="0"/>
          </a:p>
          <a:p>
            <a:r>
              <a:rPr lang="en-CA" dirty="0" smtClean="0"/>
              <a:t>This </a:t>
            </a:r>
            <a:r>
              <a:rPr lang="en-CA" dirty="0"/>
              <a:t>can be an adverb like </a:t>
            </a:r>
            <a:r>
              <a:rPr lang="en-CA" i="1" dirty="0"/>
              <a:t>often</a:t>
            </a:r>
            <a:r>
              <a:rPr lang="en-CA" dirty="0"/>
              <a:t>, </a:t>
            </a:r>
            <a:r>
              <a:rPr lang="en-CA" i="1" dirty="0"/>
              <a:t>sometimes</a:t>
            </a:r>
            <a:r>
              <a:rPr lang="en-CA" dirty="0"/>
              <a:t>, </a:t>
            </a:r>
            <a:r>
              <a:rPr lang="en-CA" i="1" dirty="0"/>
              <a:t>never</a:t>
            </a:r>
            <a:r>
              <a:rPr lang="en-CA" dirty="0"/>
              <a:t>.</a:t>
            </a:r>
            <a:br>
              <a:rPr lang="en-CA" dirty="0"/>
            </a:br>
            <a:endParaRPr lang="en-CA" dirty="0" smtClean="0"/>
          </a:p>
          <a:p>
            <a:r>
              <a:rPr lang="en-CA" dirty="0" smtClean="0"/>
              <a:t>It </a:t>
            </a:r>
            <a:r>
              <a:rPr lang="en-CA" dirty="0"/>
              <a:t>can also be expression like </a:t>
            </a:r>
            <a:r>
              <a:rPr lang="en-CA" i="1" dirty="0"/>
              <a:t>a lot</a:t>
            </a:r>
            <a:r>
              <a:rPr lang="en-CA" dirty="0"/>
              <a:t>, </a:t>
            </a:r>
            <a:r>
              <a:rPr lang="en-CA" i="1" dirty="0"/>
              <a:t>all the time</a:t>
            </a:r>
            <a:r>
              <a:rPr lang="en-CA" dirty="0"/>
              <a:t>, </a:t>
            </a:r>
            <a:r>
              <a:rPr lang="en-CA" i="1" dirty="0"/>
              <a:t>when I can</a:t>
            </a:r>
            <a:r>
              <a:rPr lang="en-CA" dirty="0" smtClean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240" y="7181661"/>
            <a:ext cx="2847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1" dirty="0"/>
              <a:t>Examples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i="1" dirty="0"/>
              <a:t>She goes to the mall all the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i="1" dirty="0"/>
              <a:t>He doesn’t come here often.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i="1" dirty="0"/>
              <a:t>They eat in this restaurant a 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3502" y="4733041"/>
            <a:ext cx="4760057" cy="59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b="1" dirty="0" smtClean="0"/>
              <a:t>Examples</a:t>
            </a:r>
            <a:r>
              <a:rPr lang="en-US" sz="1000" dirty="0" smtClean="0"/>
              <a:t>:</a:t>
            </a:r>
          </a:p>
          <a:p>
            <a:pPr marL="171450" indent="-171450">
              <a:lnSpc>
                <a:spcPct val="110000"/>
              </a:lnSpc>
              <a:buFont typeface="Arial"/>
              <a:buChar char="•"/>
            </a:pPr>
            <a:r>
              <a:rPr lang="en-US" sz="1000" i="1" dirty="0" smtClean="0"/>
              <a:t>They go to museums on the weekend.</a:t>
            </a:r>
          </a:p>
          <a:p>
            <a:pPr marL="171450" indent="-171450">
              <a:lnSpc>
                <a:spcPct val="110000"/>
              </a:lnSpc>
              <a:buFont typeface="Arial"/>
              <a:buChar char="•"/>
            </a:pPr>
            <a:r>
              <a:rPr lang="en-US" sz="1000" i="1" dirty="0" smtClean="0"/>
              <a:t>They take time off to go to games in other cities.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333409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</TotalTime>
  <Words>551</Words>
  <Application>Microsoft Macintosh PowerPoint</Application>
  <PresentationFormat>On-screen Show (4:3)</PresentationFormat>
  <Paragraphs>116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Microsoft Office User</cp:lastModifiedBy>
  <cp:revision>146</cp:revision>
  <cp:lastPrinted>2015-07-20T15:58:35Z</cp:lastPrinted>
  <dcterms:created xsi:type="dcterms:W3CDTF">2015-07-06T14:08:02Z</dcterms:created>
  <dcterms:modified xsi:type="dcterms:W3CDTF">2015-08-04T14:04:33Z</dcterms:modified>
</cp:coreProperties>
</file>