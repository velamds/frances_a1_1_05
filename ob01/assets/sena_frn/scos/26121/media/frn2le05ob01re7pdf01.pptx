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60" r:id="rId4"/>
    <p:sldId id="259" r:id="rId5"/>
    <p:sldId id="258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">
          <p15:clr>
            <a:srgbClr val="A4A3A4"/>
          </p15:clr>
        </p15:guide>
        <p15:guide id="2" pos="3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694" autoAdjust="0"/>
  </p:normalViewPr>
  <p:slideViewPr>
    <p:cSldViewPr snapToGrid="0">
      <p:cViewPr>
        <p:scale>
          <a:sx n="80" d="100"/>
          <a:sy n="80" d="100"/>
        </p:scale>
        <p:origin x="1602" y="-1482"/>
      </p:cViewPr>
      <p:guideLst>
        <p:guide orient="horz" pos="256"/>
        <p:guide pos="3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8B786-5ACF-3F46-A579-501C4E3B131B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6FF-52D5-7E47-AF3B-226A321B9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13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243F-1C71-48BF-8695-F4FBDA3E52DC}" type="datetimeFigureOut">
              <a:rPr lang="en-IN" smtClean="0"/>
              <a:t>29-09-2015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4869-E2F4-4899-A417-44DCD5B40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69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560788" y="2773069"/>
            <a:ext cx="2461812" cy="351131"/>
            <a:chOff x="387782" y="2609610"/>
            <a:chExt cx="2461812" cy="351131"/>
          </a:xfrm>
        </p:grpSpPr>
        <p:sp>
          <p:nvSpPr>
            <p:cNvPr id="29" name="Shape 152"/>
            <p:cNvSpPr/>
            <p:nvPr/>
          </p:nvSpPr>
          <p:spPr>
            <a:xfrm>
              <a:off x="786698" y="2708377"/>
              <a:ext cx="956091" cy="184666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685800">
                <a:defRPr sz="16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Shape 160"/>
            <p:cNvSpPr/>
            <p:nvPr/>
          </p:nvSpPr>
          <p:spPr>
            <a:xfrm flipH="1">
              <a:off x="387782" y="2958430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1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7" y="2609610"/>
              <a:ext cx="326127" cy="326127"/>
            </a:xfrm>
            <a:prstGeom prst="rect">
              <a:avLst/>
            </a:prstGeom>
          </p:spPr>
        </p:pic>
      </p:grpSp>
      <p:sp>
        <p:nvSpPr>
          <p:cNvPr id="33" name="Shape 161"/>
          <p:cNvSpPr/>
          <p:nvPr/>
        </p:nvSpPr>
        <p:spPr>
          <a:xfrm>
            <a:off x="292100" y="730923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CA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Ask your partner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6" name="Shape 136"/>
          <p:cNvSpPr/>
          <p:nvPr/>
        </p:nvSpPr>
        <p:spPr>
          <a:xfrm>
            <a:off x="2616200" y="6384039"/>
            <a:ext cx="26188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indent="228600" algn="l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Can Do Statements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9" name="Shape 161"/>
          <p:cNvSpPr/>
          <p:nvPr/>
        </p:nvSpPr>
        <p:spPr>
          <a:xfrm>
            <a:off x="279400" y="633768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Learning Outcome: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659765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Learning outcome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7556500"/>
            <a:ext cx="2559050" cy="68580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Question</a:t>
            </a:r>
          </a:p>
          <a:p>
            <a:pPr lvl="0"/>
            <a:r>
              <a:rPr lang="en-US" dirty="0" smtClean="0"/>
              <a:t>Question</a:t>
            </a:r>
          </a:p>
          <a:p>
            <a:pPr lvl="0"/>
            <a:endParaRPr lang="en-US" dirty="0" smtClean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0" y="6597650"/>
            <a:ext cx="3073400" cy="164465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an</a:t>
            </a:r>
          </a:p>
        </p:txBody>
      </p:sp>
      <p:sp>
        <p:nvSpPr>
          <p:cNvPr id="73" name="Text Placeholder 64"/>
          <p:cNvSpPr>
            <a:spLocks noGrp="1"/>
          </p:cNvSpPr>
          <p:nvPr>
            <p:ph type="body" sz="quarter" idx="14"/>
          </p:nvPr>
        </p:nvSpPr>
        <p:spPr>
          <a:xfrm>
            <a:off x="469900" y="32448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6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38735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640858" y="310506"/>
              <a:ext cx="207749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Out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and About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5" name="Group 84"/>
          <p:cNvGrpSpPr/>
          <p:nvPr userDrawn="1"/>
        </p:nvGrpSpPr>
        <p:grpSpPr>
          <a:xfrm>
            <a:off x="553685" y="1022404"/>
            <a:ext cx="5910615" cy="838957"/>
            <a:chOff x="381329" y="1073204"/>
            <a:chExt cx="5910615" cy="838957"/>
          </a:xfrm>
        </p:grpSpPr>
        <p:sp>
          <p:nvSpPr>
            <p:cNvPr id="87" name="Shape 141"/>
            <p:cNvSpPr/>
            <p:nvPr/>
          </p:nvSpPr>
          <p:spPr>
            <a:xfrm>
              <a:off x="381329" y="1073204"/>
              <a:ext cx="70051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Instructor:</a:t>
              </a:r>
            </a:p>
          </p:txBody>
        </p:sp>
        <p:sp>
          <p:nvSpPr>
            <p:cNvPr id="88" name="Shape 142"/>
            <p:cNvSpPr/>
            <p:nvPr/>
          </p:nvSpPr>
          <p:spPr>
            <a:xfrm>
              <a:off x="384032" y="1420790"/>
              <a:ext cx="5514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Learner:</a:t>
              </a:r>
            </a:p>
          </p:txBody>
        </p:sp>
        <p:sp>
          <p:nvSpPr>
            <p:cNvPr id="89" name="Shape 143"/>
            <p:cNvSpPr/>
            <p:nvPr/>
          </p:nvSpPr>
          <p:spPr>
            <a:xfrm>
              <a:off x="3045468" y="1073800"/>
              <a:ext cx="362279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Date:</a:t>
              </a:r>
            </a:p>
          </p:txBody>
        </p:sp>
        <p:sp>
          <p:nvSpPr>
            <p:cNvPr id="90" name="Shape 144"/>
            <p:cNvSpPr/>
            <p:nvPr/>
          </p:nvSpPr>
          <p:spPr>
            <a:xfrm>
              <a:off x="383990" y="1757260"/>
              <a:ext cx="6043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Program:</a:t>
              </a:r>
            </a:p>
          </p:txBody>
        </p:sp>
        <p:sp>
          <p:nvSpPr>
            <p:cNvPr id="91" name="Shape 145"/>
            <p:cNvSpPr/>
            <p:nvPr/>
          </p:nvSpPr>
          <p:spPr>
            <a:xfrm flipH="1" flipV="1">
              <a:off x="1079500" y="1201922"/>
              <a:ext cx="1892578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" name="Shape 146"/>
            <p:cNvSpPr/>
            <p:nvPr/>
          </p:nvSpPr>
          <p:spPr>
            <a:xfrm flipH="1" flipV="1">
              <a:off x="952500" y="1547974"/>
              <a:ext cx="2019300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" name="Shape 147"/>
            <p:cNvSpPr/>
            <p:nvPr/>
          </p:nvSpPr>
          <p:spPr>
            <a:xfrm flipH="1" flipV="1">
              <a:off x="3573288" y="1883086"/>
              <a:ext cx="271865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" name="Shape 148"/>
            <p:cNvSpPr/>
            <p:nvPr/>
          </p:nvSpPr>
          <p:spPr>
            <a:xfrm flipH="1">
              <a:off x="1010542" y="1875782"/>
              <a:ext cx="1961257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" name="Shape 149"/>
            <p:cNvSpPr/>
            <p:nvPr/>
          </p:nvSpPr>
          <p:spPr>
            <a:xfrm>
              <a:off x="3020545" y="1425344"/>
              <a:ext cx="110767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r"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Regional Branch:</a:t>
              </a:r>
            </a:p>
          </p:txBody>
        </p:sp>
        <p:sp>
          <p:nvSpPr>
            <p:cNvPr id="96" name="Shape 150"/>
            <p:cNvSpPr/>
            <p:nvPr/>
          </p:nvSpPr>
          <p:spPr>
            <a:xfrm flipH="1">
              <a:off x="3454400" y="1198153"/>
              <a:ext cx="282780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" name="Shape 151"/>
            <p:cNvSpPr/>
            <p:nvPr/>
          </p:nvSpPr>
          <p:spPr>
            <a:xfrm>
              <a:off x="3028225" y="1758273"/>
              <a:ext cx="48891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0" algn="r"/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"/>
                </a:rPr>
                <a:t>Center:</a:t>
              </a:r>
            </a:p>
          </p:txBody>
        </p:sp>
        <p:sp>
          <p:nvSpPr>
            <p:cNvPr id="98" name="Shape 162"/>
            <p:cNvSpPr/>
            <p:nvPr/>
          </p:nvSpPr>
          <p:spPr>
            <a:xfrm flipH="1" flipV="1">
              <a:off x="4156590" y="1545196"/>
              <a:ext cx="2135354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/>
            </a:p>
          </p:txBody>
        </p:sp>
      </p:grpSp>
      <p:grpSp>
        <p:nvGrpSpPr>
          <p:cNvPr id="99" name="Group 98"/>
          <p:cNvGrpSpPr/>
          <p:nvPr userDrawn="1"/>
        </p:nvGrpSpPr>
        <p:grpSpPr>
          <a:xfrm>
            <a:off x="554162" y="2137521"/>
            <a:ext cx="4351406" cy="407622"/>
            <a:chOff x="387751" y="2137521"/>
            <a:chExt cx="4351406" cy="407622"/>
          </a:xfrm>
        </p:grpSpPr>
        <p:sp>
          <p:nvSpPr>
            <p:cNvPr id="100" name="Shape 153"/>
            <p:cNvSpPr/>
            <p:nvPr/>
          </p:nvSpPr>
          <p:spPr>
            <a:xfrm>
              <a:off x="393859" y="2137521"/>
              <a:ext cx="1076053" cy="1692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11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</a:t>
              </a:r>
            </a:p>
          </p:txBody>
        </p:sp>
        <p:sp>
          <p:nvSpPr>
            <p:cNvPr id="101" name="Shape 154"/>
            <p:cNvSpPr/>
            <p:nvPr/>
          </p:nvSpPr>
          <p:spPr>
            <a:xfrm>
              <a:off x="387751" y="2406644"/>
              <a:ext cx="914586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2" name="Shape 155"/>
            <p:cNvSpPr/>
            <p:nvPr/>
          </p:nvSpPr>
          <p:spPr>
            <a:xfrm>
              <a:off x="2161245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3" name="Shape 156"/>
            <p:cNvSpPr/>
            <p:nvPr/>
          </p:nvSpPr>
          <p:spPr>
            <a:xfrm>
              <a:off x="1204888" y="2406644"/>
              <a:ext cx="1437549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Explore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4" name="Shape 158"/>
            <p:cNvSpPr/>
            <p:nvPr/>
          </p:nvSpPr>
          <p:spPr>
            <a:xfrm>
              <a:off x="3138956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05" name="Shape 157"/>
          <p:cNvSpPr/>
          <p:nvPr userDrawn="1"/>
        </p:nvSpPr>
        <p:spPr>
          <a:xfrm>
            <a:off x="5482678" y="2407349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P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oint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Shape 158"/>
          <p:cNvSpPr/>
          <p:nvPr userDrawn="1"/>
        </p:nvSpPr>
        <p:spPr>
          <a:xfrm>
            <a:off x="4513622" y="2406644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 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5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54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57" name="TextBox 56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40858" y="316856"/>
              <a:ext cx="207749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Out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and About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64312" y="1045638"/>
            <a:ext cx="2461812" cy="358806"/>
            <a:chOff x="394132" y="1045638"/>
            <a:chExt cx="2461812" cy="358806"/>
          </a:xfrm>
        </p:grpSpPr>
        <p:sp>
          <p:nvSpPr>
            <p:cNvPr id="16" name="Shape 176"/>
            <p:cNvSpPr/>
            <p:nvPr/>
          </p:nvSpPr>
          <p:spPr>
            <a:xfrm>
              <a:off x="785439" y="1123089"/>
              <a:ext cx="117986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xplore</a:t>
              </a:r>
              <a:r>
                <a:rPr lang="en-CA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Shape 160"/>
            <p:cNvSpPr/>
            <p:nvPr/>
          </p:nvSpPr>
          <p:spPr>
            <a:xfrm flipH="1">
              <a:off x="394132" y="140213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8" name="Imagen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768" y="1045638"/>
              <a:ext cx="327600" cy="327600"/>
            </a:xfrm>
            <a:prstGeom prst="rect">
              <a:avLst/>
            </a:prstGeom>
          </p:spPr>
        </p:pic>
      </p:grpSp>
      <p:sp>
        <p:nvSpPr>
          <p:cNvPr id="21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21844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5048250"/>
            <a:ext cx="5842000" cy="3200400"/>
          </a:xfrm>
        </p:spPr>
        <p:txBody>
          <a:bodyPr>
            <a:noAutofit/>
          </a:bodyPr>
          <a:lstStyle>
            <a:lvl1pPr marL="0" indent="0" algn="l" defTabSz="685800" rtl="0">
              <a:lnSpc>
                <a:spcPct val="90000"/>
              </a:lnSpc>
              <a:spcBef>
                <a:spcPts val="100"/>
              </a:spcBef>
              <a:buFont typeface="+mj-lt"/>
              <a:buNone/>
              <a:tabLst>
                <a:tab pos="1079500" algn="l"/>
              </a:tabLst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 </a:t>
            </a:r>
            <a:r>
              <a:rPr lang="en-CA" b="1" i="1" dirty="0" smtClean="0">
                <a:solidFill>
                  <a:schemeClr val="bg1">
                    <a:lumMod val="75000"/>
                  </a:schemeClr>
                </a:solidFill>
                <a:latin typeface="+mn-lt"/>
                <a:cs typeface="Verdana"/>
              </a:rPr>
              <a:t>1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Good morning, Ms. Smith. My name is Bill.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Good morning, Bill. The weather is nice today!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Yes, I love this weather. Summer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Winter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rtl="0">
              <a:spcBef>
                <a:spcPts val="100"/>
              </a:spcBef>
            </a:pPr>
            <a:endParaRPr lang="en-CA" sz="1000" b="1" dirty="0" smtClean="0">
              <a:latin typeface="+mn-lt"/>
              <a:cs typeface="Verdana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2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Good afternoon, Kenji.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Kenji</a:t>
            </a:r>
            <a:r>
              <a:rPr lang="en-CA" sz="1000" dirty="0" smtClean="0">
                <a:latin typeface="+mn-lt"/>
                <a:cs typeface="Verdana"/>
              </a:rPr>
              <a:t>:</a:t>
            </a:r>
            <a:r>
              <a:rPr lang="en-CA" sz="1000" b="1" dirty="0" smtClean="0">
                <a:latin typeface="+mn-lt"/>
                <a:cs typeface="Verdana"/>
              </a:rPr>
              <a:t>	</a:t>
            </a:r>
            <a:r>
              <a:rPr lang="en-CA" sz="1000" dirty="0" smtClean="0">
                <a:latin typeface="+mn-lt"/>
                <a:cs typeface="Verdana"/>
              </a:rPr>
              <a:t>Good afternoon to you too, Angela. I am happy it is Friday!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I am too.</a:t>
            </a: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endParaRPr lang="en-CA" sz="1000" b="0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rgbClr val="595959"/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3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Hey, Jenny.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Hi, Dad. It is movie night tonight.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It is pizza night too!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YESSSSSSS!</a:t>
            </a:r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69900" y="46291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3555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640858" y="316856"/>
              <a:ext cx="207749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Out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and About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82600" y="20002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7" name="Group 7"/>
          <p:cNvGrpSpPr/>
          <p:nvPr userDrawn="1"/>
        </p:nvGrpSpPr>
        <p:grpSpPr>
          <a:xfrm>
            <a:off x="565150" y="1043658"/>
            <a:ext cx="2461812" cy="366794"/>
            <a:chOff x="394262" y="1044000"/>
            <a:chExt cx="2461812" cy="366794"/>
          </a:xfrm>
        </p:grpSpPr>
        <p:sp>
          <p:nvSpPr>
            <p:cNvPr id="28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0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grpSp>
        <p:nvGrpSpPr>
          <p:cNvPr id="32" name="Group 7"/>
          <p:cNvGrpSpPr/>
          <p:nvPr userDrawn="1"/>
        </p:nvGrpSpPr>
        <p:grpSpPr>
          <a:xfrm>
            <a:off x="565712" y="4479008"/>
            <a:ext cx="2461812" cy="366794"/>
            <a:chOff x="394262" y="1044000"/>
            <a:chExt cx="2461812" cy="366794"/>
          </a:xfrm>
        </p:grpSpPr>
        <p:sp>
          <p:nvSpPr>
            <p:cNvPr id="33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5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sp>
        <p:nvSpPr>
          <p:cNvPr id="36" name="Text Placeholder 64"/>
          <p:cNvSpPr>
            <a:spLocks noGrp="1"/>
          </p:cNvSpPr>
          <p:nvPr>
            <p:ph type="body" sz="quarter" idx="20" hasCustomPrompt="1"/>
          </p:nvPr>
        </p:nvSpPr>
        <p:spPr>
          <a:xfrm>
            <a:off x="482600" y="54927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37" name="Text Placeholder 64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50482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6118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640858" y="316856"/>
              <a:ext cx="207749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Out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and About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596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640858" y="316856"/>
              <a:ext cx="207749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Out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and About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59880" y="1044072"/>
            <a:ext cx="2461812" cy="372551"/>
            <a:chOff x="389700" y="3441761"/>
            <a:chExt cx="2461812" cy="372551"/>
          </a:xfrm>
        </p:grpSpPr>
        <p:pic>
          <p:nvPicPr>
            <p:cNvPr id="24" name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3441761"/>
              <a:ext cx="327600" cy="327600"/>
            </a:xfrm>
            <a:prstGeom prst="rect">
              <a:avLst/>
            </a:prstGeom>
          </p:spPr>
        </p:pic>
        <p:sp>
          <p:nvSpPr>
            <p:cNvPr id="25" name="Shape 176"/>
            <p:cNvSpPr/>
            <p:nvPr/>
          </p:nvSpPr>
          <p:spPr>
            <a:xfrm>
              <a:off x="786405" y="3519928"/>
              <a:ext cx="1353661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Learning Points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Shape 160"/>
            <p:cNvSpPr/>
            <p:nvPr/>
          </p:nvSpPr>
          <p:spPr>
            <a:xfrm flipH="1">
              <a:off x="389700" y="3812001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213360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9952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8E352-EA88-40AF-8669-23AE5A543F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1" r:id="rId4"/>
    <p:sldLayoutId id="2147483654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Accurately use information about free-time activities or personal likes/dislikes in communicative situations.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08000" y="7556500"/>
            <a:ext cx="2921000" cy="685800"/>
          </a:xfrm>
        </p:spPr>
        <p:txBody>
          <a:bodyPr/>
          <a:lstStyle/>
          <a:p>
            <a:r>
              <a:rPr lang="en-US" dirty="0" smtClean="0"/>
              <a:t>What activities do you </a:t>
            </a:r>
            <a:r>
              <a:rPr lang="en-US" dirty="0"/>
              <a:t>like to do in your </a:t>
            </a:r>
            <a:r>
              <a:rPr lang="en-US" dirty="0" smtClean="0"/>
              <a:t>city?</a:t>
            </a:r>
            <a:endParaRPr lang="en-US" dirty="0"/>
          </a:p>
          <a:p>
            <a:r>
              <a:rPr lang="en-US" dirty="0"/>
              <a:t>What can you do in the evening? On the weekend? On your day off?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can talk about likes and dislikes.</a:t>
            </a:r>
          </a:p>
          <a:p>
            <a:r>
              <a:rPr lang="en-US" dirty="0"/>
              <a:t>I can express how far or how near an object is using this and that.</a:t>
            </a:r>
          </a:p>
          <a:p>
            <a:r>
              <a:rPr lang="en-US" dirty="0"/>
              <a:t>I can talk about holidays and other sightseeing activities.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Let’s go to to the beach, </a:t>
            </a:r>
            <a:r>
              <a:rPr lang="en-US" dirty="0" smtClean="0"/>
              <a:t>a </a:t>
            </a:r>
            <a:r>
              <a:rPr lang="en-US" dirty="0"/>
              <a:t>soccer game, or a museum!</a:t>
            </a:r>
          </a:p>
        </p:txBody>
      </p:sp>
      <p:pic>
        <p:nvPicPr>
          <p:cNvPr id="7" name="Picture Placeholder 6" descr="DR1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860" r="-6860"/>
          <a:stretch>
            <a:fillRect/>
          </a:stretch>
        </p:blipFill>
        <p:spPr>
          <a:xfrm>
            <a:off x="1199092" y="3683000"/>
            <a:ext cx="4122208" cy="2413000"/>
          </a:xfrm>
        </p:spPr>
      </p:pic>
      <p:sp>
        <p:nvSpPr>
          <p:cNvPr id="8" name="Rectangle 7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This One or That One?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7927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DR2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417" r="-35417"/>
          <a:stretch>
            <a:fillRect/>
          </a:stretch>
        </p:blipFill>
        <p:spPr>
          <a:xfrm>
            <a:off x="1300691" y="1905000"/>
            <a:ext cx="4274079" cy="25019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9900" y="4857750"/>
            <a:ext cx="5842000" cy="3200400"/>
          </a:xfrm>
        </p:spPr>
        <p:txBody>
          <a:bodyPr/>
          <a:lstStyle/>
          <a:p>
            <a:pPr>
              <a:tabLst>
                <a:tab pos="900113" algn="l"/>
              </a:tabLst>
            </a:pPr>
            <a:endParaRPr lang="en-CA" dirty="0" smtClean="0"/>
          </a:p>
          <a:p>
            <a:pPr>
              <a:tabLst>
                <a:tab pos="900113" algn="l"/>
              </a:tabLst>
            </a:pPr>
            <a:r>
              <a:rPr lang="en-CA" b="1" dirty="0" smtClean="0"/>
              <a:t>Peter</a:t>
            </a:r>
            <a:r>
              <a:rPr lang="en-CA" dirty="0"/>
              <a:t>: </a:t>
            </a:r>
            <a:r>
              <a:rPr lang="en-CA" dirty="0" smtClean="0"/>
              <a:t>	Let’s </a:t>
            </a:r>
            <a:r>
              <a:rPr lang="en-CA" dirty="0"/>
              <a:t>go sightseeing around town today! </a:t>
            </a:r>
          </a:p>
          <a:p>
            <a:pPr>
              <a:tabLst>
                <a:tab pos="900113" algn="l"/>
              </a:tabLst>
            </a:pPr>
            <a:r>
              <a:rPr lang="en-CA" b="1" dirty="0"/>
              <a:t>Vanessa</a:t>
            </a:r>
            <a:r>
              <a:rPr lang="en-CA" dirty="0"/>
              <a:t>: </a:t>
            </a:r>
            <a:r>
              <a:rPr lang="en-CA" dirty="0" smtClean="0"/>
              <a:t>	Sure</a:t>
            </a:r>
            <a:r>
              <a:rPr lang="en-CA" dirty="0"/>
              <a:t>. We can start right here with ice cream!</a:t>
            </a:r>
          </a:p>
          <a:p>
            <a:pPr>
              <a:tabLst>
                <a:tab pos="900113" algn="l"/>
              </a:tabLst>
            </a:pPr>
            <a:r>
              <a:rPr lang="en-CA" b="1" dirty="0" smtClean="0"/>
              <a:t/>
            </a:r>
            <a:br>
              <a:rPr lang="en-CA" b="1" dirty="0" smtClean="0"/>
            </a:br>
            <a:r>
              <a:rPr lang="en-CA" b="1" dirty="0" smtClean="0"/>
              <a:t>Peter</a:t>
            </a:r>
            <a:r>
              <a:rPr lang="en-CA" dirty="0"/>
              <a:t>: </a:t>
            </a:r>
            <a:r>
              <a:rPr lang="en-CA" dirty="0" smtClean="0"/>
              <a:t>	Okay</a:t>
            </a:r>
            <a:r>
              <a:rPr lang="en-CA" dirty="0"/>
              <a:t>. I like chocolate. What about you?</a:t>
            </a:r>
          </a:p>
          <a:p>
            <a:pPr>
              <a:tabLst>
                <a:tab pos="900113" algn="l"/>
              </a:tabLst>
            </a:pPr>
            <a:r>
              <a:rPr lang="en-CA" b="1" dirty="0" smtClean="0"/>
              <a:t>Vanessa</a:t>
            </a:r>
            <a:r>
              <a:rPr lang="en-CA" dirty="0"/>
              <a:t>:  </a:t>
            </a:r>
            <a:r>
              <a:rPr lang="en-CA" dirty="0" smtClean="0"/>
              <a:t>	I </a:t>
            </a:r>
            <a:r>
              <a:rPr lang="en-CA" dirty="0"/>
              <a:t>prefer fruit </a:t>
            </a:r>
            <a:r>
              <a:rPr lang="en-CA" dirty="0" smtClean="0"/>
              <a:t>flavors.</a:t>
            </a:r>
            <a:br>
              <a:rPr lang="en-CA" dirty="0" smtClean="0"/>
            </a:br>
            <a:endParaRPr lang="en-CA" b="1" dirty="0" smtClean="0"/>
          </a:p>
          <a:p>
            <a:pPr>
              <a:tabLst>
                <a:tab pos="900113" algn="l"/>
              </a:tabLst>
            </a:pPr>
            <a:r>
              <a:rPr lang="en-CA" b="1" dirty="0" smtClean="0"/>
              <a:t>Peter</a:t>
            </a:r>
            <a:r>
              <a:rPr lang="en-CA" dirty="0"/>
              <a:t>: </a:t>
            </a:r>
            <a:r>
              <a:rPr lang="en-CA" dirty="0" smtClean="0"/>
              <a:t>	This </a:t>
            </a:r>
            <a:r>
              <a:rPr lang="en-CA" dirty="0"/>
              <a:t>one here is strawberry mango. That one at the back is mocha </a:t>
            </a:r>
            <a:r>
              <a:rPr lang="en-CA" dirty="0" smtClean="0"/>
              <a:t>		</a:t>
            </a:r>
            <a:r>
              <a:rPr lang="en-CA" dirty="0"/>
              <a:t>c</a:t>
            </a:r>
            <a:r>
              <a:rPr lang="en-CA" dirty="0" smtClean="0"/>
              <a:t>runch</a:t>
            </a:r>
            <a:r>
              <a:rPr lang="en-CA" dirty="0"/>
              <a:t>! </a:t>
            </a:r>
          </a:p>
          <a:p>
            <a:pPr>
              <a:tabLst>
                <a:tab pos="900113" algn="l"/>
              </a:tabLst>
            </a:pPr>
            <a:r>
              <a:rPr lang="en-CA" b="1" dirty="0"/>
              <a:t>Vanessa</a:t>
            </a:r>
            <a:r>
              <a:rPr lang="en-CA" dirty="0"/>
              <a:t>: </a:t>
            </a:r>
            <a:r>
              <a:rPr lang="en-CA" dirty="0" smtClean="0"/>
              <a:t>	Hi</a:t>
            </a:r>
            <a:r>
              <a:rPr lang="en-CA" dirty="0"/>
              <a:t>. We want a small cup of this one here and a large cup of that one </a:t>
            </a:r>
            <a:r>
              <a:rPr lang="en-CA" dirty="0" smtClean="0"/>
              <a:t>		there</a:t>
            </a:r>
            <a:r>
              <a:rPr lang="en-CA" dirty="0"/>
              <a:t>. </a:t>
            </a:r>
            <a:r>
              <a:rPr lang="en-CA" dirty="0" smtClean="0"/>
              <a:t>Mmm</a:t>
            </a:r>
            <a:r>
              <a:rPr lang="en-CA" dirty="0"/>
              <a:t> </a:t>
            </a:r>
            <a:r>
              <a:rPr lang="en-CA" dirty="0" smtClean="0"/>
              <a:t>… this </a:t>
            </a:r>
            <a:r>
              <a:rPr lang="en-CA" dirty="0"/>
              <a:t>tastes wonderful</a:t>
            </a:r>
            <a:r>
              <a:rPr lang="en-CA" dirty="0" smtClean="0"/>
              <a:t>.</a:t>
            </a:r>
            <a:br>
              <a:rPr lang="en-CA" dirty="0" smtClean="0"/>
            </a:br>
            <a:endParaRPr lang="en-CA" dirty="0"/>
          </a:p>
          <a:p>
            <a:pPr>
              <a:tabLst>
                <a:tab pos="627063" algn="l"/>
                <a:tab pos="900113" algn="l"/>
              </a:tabLst>
            </a:pPr>
            <a:r>
              <a:rPr lang="en-CA" b="1" dirty="0" smtClean="0"/>
              <a:t>Peter</a:t>
            </a:r>
            <a:r>
              <a:rPr lang="en-CA" dirty="0"/>
              <a:t>: </a:t>
            </a:r>
            <a:r>
              <a:rPr lang="en-CA" dirty="0" smtClean="0"/>
              <a:t>		Here’s </a:t>
            </a:r>
            <a:r>
              <a:rPr lang="en-CA" dirty="0"/>
              <a:t>a tourist map. We can visit a museum.</a:t>
            </a:r>
          </a:p>
          <a:p>
            <a:pPr>
              <a:tabLst>
                <a:tab pos="627063" algn="l"/>
                <a:tab pos="900113" algn="l"/>
              </a:tabLst>
            </a:pPr>
            <a:r>
              <a:rPr lang="en-CA" b="1" dirty="0" smtClean="0"/>
              <a:t>Vanessa</a:t>
            </a:r>
            <a:r>
              <a:rPr lang="en-CA" dirty="0"/>
              <a:t>: 	</a:t>
            </a:r>
            <a:r>
              <a:rPr lang="en-CA" dirty="0" smtClean="0"/>
              <a:t>This </a:t>
            </a:r>
            <a:r>
              <a:rPr lang="en-CA" dirty="0"/>
              <a:t>boat tour looks interesting. There’s a music festival and an art show </a:t>
            </a:r>
            <a:r>
              <a:rPr lang="en-CA" dirty="0" smtClean="0"/>
              <a:t>		by </a:t>
            </a:r>
            <a:r>
              <a:rPr lang="en-CA" dirty="0"/>
              <a:t>the water too! We both like music</a:t>
            </a:r>
            <a:r>
              <a:rPr lang="en-CA" dirty="0" smtClean="0"/>
              <a:t>.</a:t>
            </a:r>
          </a:p>
          <a:p>
            <a:pPr>
              <a:tabLst>
                <a:tab pos="627063" algn="l"/>
                <a:tab pos="900113" algn="l"/>
              </a:tabLst>
            </a:pPr>
            <a:endParaRPr lang="en-CA" b="1" dirty="0" smtClean="0"/>
          </a:p>
          <a:p>
            <a:pPr>
              <a:tabLst>
                <a:tab pos="900113" algn="l"/>
                <a:tab pos="982663" algn="l"/>
              </a:tabLst>
            </a:pPr>
            <a:r>
              <a:rPr lang="en-CA" b="1" dirty="0" smtClean="0"/>
              <a:t>Peter</a:t>
            </a:r>
            <a:r>
              <a:rPr lang="en-CA" dirty="0" smtClean="0"/>
              <a:t>: 	Okay</a:t>
            </a:r>
            <a:r>
              <a:rPr lang="en-CA" dirty="0"/>
              <a:t>. We can go to the festival, then relax on the boat trip later.</a:t>
            </a:r>
          </a:p>
          <a:p>
            <a:pPr>
              <a:tabLst>
                <a:tab pos="627063" algn="l"/>
                <a:tab pos="900113" algn="l"/>
              </a:tabLst>
            </a:pPr>
            <a:r>
              <a:rPr lang="en-CA" b="1" dirty="0"/>
              <a:t>Vanessa</a:t>
            </a:r>
            <a:r>
              <a:rPr lang="en-CA" dirty="0"/>
              <a:t>: </a:t>
            </a:r>
            <a:r>
              <a:rPr lang="en-CA" dirty="0" smtClean="0"/>
              <a:t>	Sounds </a:t>
            </a:r>
            <a:r>
              <a:rPr lang="en-CA" dirty="0"/>
              <a:t>like a plan.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CA" sz="1000" dirty="0" smtClean="0"/>
              <a:t>Instructions: Read the dialogue aloud. </a:t>
            </a:r>
            <a:endParaRPr lang="en-CA" sz="1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dirty="0"/>
              <a:t>Peter and Vanessa go </a:t>
            </a:r>
            <a:r>
              <a:rPr lang="en-CA" dirty="0" smtClean="0"/>
              <a:t>sightseeing* </a:t>
            </a:r>
            <a:r>
              <a:rPr lang="en-CA" dirty="0"/>
              <a:t>on their day </a:t>
            </a:r>
            <a:r>
              <a:rPr lang="en-CA" dirty="0" smtClean="0"/>
              <a:t>off**!</a:t>
            </a:r>
            <a:endParaRPr lang="en-CA" dirty="0"/>
          </a:p>
        </p:txBody>
      </p:sp>
      <p:sp>
        <p:nvSpPr>
          <p:cNvPr id="6" name="Rectangle 5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This One or That One?</a:t>
            </a:r>
            <a:endParaRPr lang="en-US" sz="1200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4660900" y="1930400"/>
            <a:ext cx="1934824" cy="1256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CA" sz="900" i="1" dirty="0" smtClean="0"/>
              <a:t>*”Sightseeing”</a:t>
            </a:r>
            <a:r>
              <a:rPr lang="en-CA" sz="900" dirty="0" smtClean="0"/>
              <a:t> is visiting interesting places in a city.</a:t>
            </a:r>
          </a:p>
          <a:p>
            <a:pPr marL="0" indent="0"/>
            <a:endParaRPr lang="en-CA" sz="900" i="1" dirty="0" smtClean="0"/>
          </a:p>
          <a:p>
            <a:pPr marL="0" indent="0"/>
            <a:r>
              <a:rPr lang="en-CA" sz="900" i="1" dirty="0" smtClean="0"/>
              <a:t>**</a:t>
            </a:r>
            <a:r>
              <a:rPr lang="en-CA" sz="900" dirty="0" smtClean="0"/>
              <a:t>Your </a:t>
            </a:r>
            <a:r>
              <a:rPr lang="en-CA" sz="900" i="1" dirty="0" smtClean="0"/>
              <a:t>”day off”</a:t>
            </a:r>
            <a:r>
              <a:rPr lang="en-CA" sz="900" dirty="0" smtClean="0"/>
              <a:t> is the day you have no school or work.</a:t>
            </a:r>
            <a:endParaRPr lang="en-CA" sz="900" i="1" dirty="0"/>
          </a:p>
        </p:txBody>
      </p:sp>
    </p:spTree>
    <p:extLst>
      <p:ext uri="{BB962C8B-B14F-4D97-AF65-F5344CB8AC3E}">
        <p14:creationId xmlns:p14="http://schemas.microsoft.com/office/powerpoint/2010/main" val="59137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69900" y="1650334"/>
            <a:ext cx="5861050" cy="245287"/>
          </a:xfrm>
        </p:spPr>
        <p:txBody>
          <a:bodyPr/>
          <a:lstStyle/>
          <a:p>
            <a:r>
              <a:rPr lang="en-US" dirty="0"/>
              <a:t>This one </a:t>
            </a:r>
            <a:r>
              <a:rPr lang="en-US" dirty="0" smtClean="0"/>
              <a:t>here </a:t>
            </a:r>
            <a:r>
              <a:rPr lang="en-US" dirty="0"/>
              <a:t>and that one </a:t>
            </a:r>
            <a:r>
              <a:rPr lang="en-US" dirty="0" smtClean="0"/>
              <a:t>there!    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83937" y="4885237"/>
            <a:ext cx="5861050" cy="412750"/>
          </a:xfrm>
        </p:spPr>
        <p:txBody>
          <a:bodyPr/>
          <a:lstStyle/>
          <a:p>
            <a:r>
              <a:rPr lang="en-US" dirty="0"/>
              <a:t>I love sightseeing with friends in my city!</a:t>
            </a:r>
          </a:p>
          <a:p>
            <a:endParaRPr lang="en-US" dirty="0"/>
          </a:p>
        </p:txBody>
      </p:sp>
      <p:sp>
        <p:nvSpPr>
          <p:cNvPr id="9" name="Text Placeholder 64"/>
          <p:cNvSpPr txBox="1">
            <a:spLocks/>
          </p:cNvSpPr>
          <p:nvPr/>
        </p:nvSpPr>
        <p:spPr>
          <a:xfrm>
            <a:off x="469900" y="1915166"/>
            <a:ext cx="5848350" cy="60281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000" dirty="0" smtClean="0"/>
              <a:t>Instructions</a:t>
            </a:r>
            <a:r>
              <a:rPr lang="en-US" sz="1000" dirty="0"/>
              <a:t>: </a:t>
            </a:r>
            <a:r>
              <a:rPr lang="en-US" sz="1000" dirty="0" smtClean="0"/>
              <a:t>Draw a line from the the first part of the </a:t>
            </a:r>
            <a:r>
              <a:rPr lang="en-US" sz="1000" dirty="0"/>
              <a:t>statement on the left </a:t>
            </a:r>
            <a:r>
              <a:rPr lang="en-US" sz="1000" dirty="0" smtClean="0"/>
              <a:t>to the second part on </a:t>
            </a:r>
            <a:r>
              <a:rPr lang="en-US" sz="1000" dirty="0"/>
              <a:t>the right. </a:t>
            </a:r>
          </a:p>
          <a:p>
            <a:endParaRPr lang="en-US" sz="1000" dirty="0">
              <a:cs typeface="Verdana"/>
            </a:endParaRPr>
          </a:p>
        </p:txBody>
      </p:sp>
      <p:sp>
        <p:nvSpPr>
          <p:cNvPr id="10" name="Text Placeholder 64"/>
          <p:cNvSpPr txBox="1">
            <a:spLocks/>
          </p:cNvSpPr>
          <p:nvPr/>
        </p:nvSpPr>
        <p:spPr>
          <a:xfrm>
            <a:off x="469900" y="5207083"/>
            <a:ext cx="5848350" cy="5047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000" dirty="0" smtClean="0">
                <a:cs typeface="Verdana"/>
              </a:rPr>
              <a:t>Instructions: </a:t>
            </a:r>
            <a:r>
              <a:rPr lang="en-US" sz="1000" dirty="0" smtClean="0"/>
              <a:t>Organize </a:t>
            </a:r>
            <a:r>
              <a:rPr lang="en-US" sz="1000" dirty="0"/>
              <a:t>the mystery sentences. Place each word in the correct order.</a:t>
            </a:r>
          </a:p>
          <a:p>
            <a:endParaRPr lang="en-US" sz="1000" dirty="0">
              <a:cs typeface="Verdan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This One or That One?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494507" y="2474818"/>
            <a:ext cx="2299494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000" dirty="0" smtClean="0"/>
              <a:t>I </a:t>
            </a:r>
            <a:r>
              <a:rPr lang="en-US" sz="1000" dirty="0"/>
              <a:t>prefer                                    </a:t>
            </a:r>
            <a:r>
              <a:rPr lang="en-US" sz="1000" dirty="0" smtClean="0"/>
              <a:t> </a:t>
            </a:r>
            <a:endParaRPr lang="en-US" sz="1000" dirty="0"/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en-US" sz="1000" dirty="0" smtClean="0"/>
              <a:t>That </a:t>
            </a:r>
            <a:r>
              <a:rPr lang="en-US" sz="1000" dirty="0"/>
              <a:t>one at the back 	         </a:t>
            </a:r>
            <a:r>
              <a:rPr lang="en-US" sz="1000" dirty="0" smtClean="0"/>
              <a:t>  </a:t>
            </a:r>
            <a:endParaRPr lang="en-US" sz="1000" dirty="0"/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en-US" sz="1000" dirty="0" smtClean="0"/>
              <a:t>We </a:t>
            </a:r>
            <a:r>
              <a:rPr lang="en-US" sz="1000" dirty="0"/>
              <a:t>want a large cup 	      </a:t>
            </a:r>
            <a:r>
              <a:rPr lang="en-US" sz="1000" dirty="0" smtClean="0"/>
              <a:t>    </a:t>
            </a: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en-US" sz="1000" dirty="0" smtClean="0"/>
              <a:t>This </a:t>
            </a:r>
            <a:r>
              <a:rPr lang="en-US" sz="1000" dirty="0"/>
              <a:t>boat                            </a:t>
            </a:r>
            <a:r>
              <a:rPr lang="en-US" sz="1000" dirty="0" smtClean="0"/>
              <a:t>     </a:t>
            </a:r>
            <a:r>
              <a:rPr lang="en-US" sz="1000" dirty="0"/>
              <a:t> </a:t>
            </a:r>
            <a:endParaRPr lang="en-US" sz="1000" dirty="0" smtClean="0"/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en-US" sz="1000" dirty="0" smtClean="0"/>
              <a:t>We </a:t>
            </a:r>
            <a:r>
              <a:rPr lang="en-US" sz="1000" dirty="0" smtClean="0"/>
              <a:t>both</a:t>
            </a:r>
            <a:endParaRPr lang="en-US" sz="1000" dirty="0"/>
          </a:p>
        </p:txBody>
      </p:sp>
      <p:sp>
        <p:nvSpPr>
          <p:cNvPr id="20" name="Rectangle 19"/>
          <p:cNvSpPr/>
          <p:nvPr/>
        </p:nvSpPr>
        <p:spPr>
          <a:xfrm>
            <a:off x="3238500" y="2436291"/>
            <a:ext cx="206086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lphaLcParenR"/>
            </a:pPr>
            <a:r>
              <a:rPr lang="en-US" sz="1000" dirty="0" smtClean="0"/>
              <a:t>like </a:t>
            </a:r>
            <a:r>
              <a:rPr lang="en-US" sz="1000" dirty="0"/>
              <a:t>music. </a:t>
            </a:r>
            <a:endParaRPr lang="en-US" sz="1000" dirty="0" smtClean="0"/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US" sz="1000" dirty="0" smtClean="0"/>
              <a:t>tour </a:t>
            </a:r>
            <a:r>
              <a:rPr lang="en-US" sz="1000" dirty="0"/>
              <a:t>looks </a:t>
            </a:r>
            <a:r>
              <a:rPr lang="en-US" sz="1000" dirty="0" smtClean="0"/>
              <a:t>interesting.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US" sz="1000" dirty="0" smtClean="0"/>
              <a:t>fruit flavors.</a:t>
            </a:r>
          </a:p>
          <a:p>
            <a:pPr marL="228600" indent="-228600">
              <a:lnSpc>
                <a:spcPct val="150000"/>
              </a:lnSpc>
              <a:buAutoNum type="alphaLcParenR"/>
            </a:pPr>
            <a:r>
              <a:rPr lang="en-US" sz="1000" dirty="0" smtClean="0"/>
              <a:t>is </a:t>
            </a:r>
            <a:r>
              <a:rPr lang="en-US" sz="1000" dirty="0"/>
              <a:t>mocha crunch! </a:t>
            </a:r>
            <a:endParaRPr lang="en-US" sz="1000" dirty="0" smtClean="0"/>
          </a:p>
          <a:p>
            <a:pPr marL="228600" indent="-228600">
              <a:buAutoNum type="alphaLcParenR"/>
            </a:pPr>
            <a:r>
              <a:rPr lang="en-US" sz="1000" dirty="0" smtClean="0"/>
              <a:t>of </a:t>
            </a:r>
            <a:r>
              <a:rPr lang="en-US" sz="1000" dirty="0"/>
              <a:t>that one </a:t>
            </a:r>
            <a:r>
              <a:rPr lang="en-US" sz="1000" dirty="0" smtClean="0"/>
              <a:t>there</a:t>
            </a:r>
            <a:r>
              <a:rPr lang="en-US" sz="1000" dirty="0"/>
              <a:t>.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69900" y="5505700"/>
            <a:ext cx="567177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</a:t>
            </a:r>
            <a:r>
              <a:rPr lang="en-US" sz="1000" dirty="0" smtClean="0"/>
              <a:t>estival./go/the/We/to/can           </a:t>
            </a:r>
            <a:br>
              <a:rPr lang="en-US" sz="1000" dirty="0" smtClean="0"/>
            </a:br>
            <a:r>
              <a:rPr lang="en-US" sz="1000" dirty="0" smtClean="0"/>
              <a:t>                </a:t>
            </a:r>
            <a:br>
              <a:rPr lang="en-US" sz="1000" dirty="0" smtClean="0"/>
            </a:br>
            <a:r>
              <a:rPr lang="en-US" sz="1000" dirty="0" smtClean="0"/>
              <a:t>___________________________________________________________________</a:t>
            </a:r>
            <a:endParaRPr lang="en-US" sz="1000" dirty="0"/>
          </a:p>
          <a:p>
            <a:endParaRPr lang="en-US" sz="1000" dirty="0" smtClean="0"/>
          </a:p>
          <a:p>
            <a:r>
              <a:rPr lang="en-US" sz="1000" dirty="0"/>
              <a:t>r</a:t>
            </a:r>
            <a:r>
              <a:rPr lang="en-US" sz="1000" dirty="0" smtClean="0"/>
              <a:t>elax/the/later./boat/on/Let’s/tour   </a:t>
            </a:r>
            <a:br>
              <a:rPr lang="en-US" sz="1000" dirty="0" smtClean="0"/>
            </a:br>
            <a:r>
              <a:rPr lang="en-US" sz="1000" dirty="0" smtClean="0"/>
              <a:t>              </a:t>
            </a:r>
            <a:br>
              <a:rPr lang="en-US" sz="1000" dirty="0" smtClean="0"/>
            </a:br>
            <a:r>
              <a:rPr lang="en-US" sz="1000" dirty="0" smtClean="0"/>
              <a:t>___________________________________________________________________</a:t>
            </a:r>
          </a:p>
          <a:p>
            <a:endParaRPr lang="en-US" sz="1000" dirty="0"/>
          </a:p>
          <a:p>
            <a:r>
              <a:rPr lang="en-US" sz="1000" dirty="0" smtClean="0"/>
              <a:t>mango/like/I/cream./ice                               </a:t>
            </a:r>
            <a:br>
              <a:rPr lang="en-US" sz="1000" dirty="0" smtClean="0"/>
            </a:br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___________________________________________________________________</a:t>
            </a:r>
          </a:p>
          <a:p>
            <a:r>
              <a:rPr lang="en-US" sz="1000" dirty="0" smtClean="0"/>
              <a:t> </a:t>
            </a:r>
          </a:p>
          <a:p>
            <a:r>
              <a:rPr lang="en-US" sz="1000" dirty="0" smtClean="0"/>
              <a:t>small/that/at/cup/a/want/of/I/one/back./the  </a:t>
            </a:r>
            <a:br>
              <a:rPr lang="en-US" sz="1000" dirty="0" smtClean="0"/>
            </a:br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___________________________________________________________________</a:t>
            </a:r>
          </a:p>
          <a:p>
            <a:endParaRPr lang="en-US" sz="1000" dirty="0"/>
          </a:p>
          <a:p>
            <a:r>
              <a:rPr lang="en-US" sz="1000" dirty="0"/>
              <a:t>i</a:t>
            </a:r>
            <a:r>
              <a:rPr lang="en-US" sz="1000" dirty="0" smtClean="0"/>
              <a:t>ce/wonderful!/This/tastes</a:t>
            </a:r>
            <a:r>
              <a:rPr lang="en-US" sz="1000" dirty="0"/>
              <a:t>/cream </a:t>
            </a:r>
            <a:r>
              <a:rPr lang="en-US" sz="1000" dirty="0" smtClean="0"/>
              <a:t>                 </a:t>
            </a:r>
            <a:br>
              <a:rPr lang="en-US" sz="1000" dirty="0" smtClean="0"/>
            </a:br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___________________________________________________________________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10246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63550" y="5571835"/>
            <a:ext cx="2882900" cy="1644650"/>
          </a:xfrm>
        </p:spPr>
        <p:txBody>
          <a:bodyPr/>
          <a:lstStyle/>
          <a:p>
            <a:r>
              <a:rPr lang="en-CA" b="1" dirty="0" err="1"/>
              <a:t>flavor</a:t>
            </a:r>
            <a:r>
              <a:rPr lang="en-CA" dirty="0"/>
              <a:t> (adjective</a:t>
            </a:r>
            <a:r>
              <a:rPr lang="en-CA" dirty="0" smtClean="0"/>
              <a:t>): </a:t>
            </a:r>
            <a:r>
              <a:rPr lang="en-CA" dirty="0"/>
              <a:t>the taste of a food</a:t>
            </a:r>
            <a:br>
              <a:rPr lang="en-CA" dirty="0"/>
            </a:br>
            <a:r>
              <a:rPr lang="en-CA" dirty="0" smtClean="0"/>
              <a:t>e.g. My </a:t>
            </a:r>
            <a:r>
              <a:rPr lang="en-CA" dirty="0" err="1"/>
              <a:t>favorite</a:t>
            </a:r>
            <a:r>
              <a:rPr lang="en-CA" dirty="0"/>
              <a:t> </a:t>
            </a:r>
            <a:r>
              <a:rPr lang="en-CA" dirty="0" err="1"/>
              <a:t>flavor</a:t>
            </a:r>
            <a:r>
              <a:rPr lang="en-CA" dirty="0"/>
              <a:t> is strawberry. </a:t>
            </a:r>
            <a:endParaRPr lang="en-CA" dirty="0" smtClean="0"/>
          </a:p>
          <a:p>
            <a:r>
              <a:rPr lang="en-CA" b="1" dirty="0" smtClean="0"/>
              <a:t>both</a:t>
            </a:r>
            <a:r>
              <a:rPr lang="en-CA" dirty="0" smtClean="0"/>
              <a:t> </a:t>
            </a:r>
            <a:r>
              <a:rPr lang="en-CA" dirty="0"/>
              <a:t>(pronoun</a:t>
            </a:r>
            <a:r>
              <a:rPr lang="en-CA" dirty="0" smtClean="0"/>
              <a:t>): </a:t>
            </a:r>
            <a:r>
              <a:rPr lang="en-CA" dirty="0"/>
              <a:t>two people together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We </a:t>
            </a:r>
            <a:r>
              <a:rPr lang="en-CA" dirty="0"/>
              <a:t>both like coffee ice cream. </a:t>
            </a:r>
            <a:endParaRPr lang="en-CA" dirty="0" smtClean="0"/>
          </a:p>
          <a:p>
            <a:r>
              <a:rPr lang="en-CA" b="1" dirty="0" smtClean="0"/>
              <a:t>right </a:t>
            </a:r>
            <a:r>
              <a:rPr lang="en-CA" b="1" dirty="0"/>
              <a:t>here </a:t>
            </a:r>
            <a:r>
              <a:rPr lang="en-CA" dirty="0"/>
              <a:t>(expression</a:t>
            </a:r>
            <a:r>
              <a:rPr lang="en-CA" dirty="0" smtClean="0"/>
              <a:t>): </a:t>
            </a:r>
            <a:r>
              <a:rPr lang="en-CA" dirty="0"/>
              <a:t>in this place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Stop</a:t>
            </a:r>
            <a:r>
              <a:rPr lang="en-CA" dirty="0"/>
              <a:t>. The restaurant is right here. </a:t>
            </a:r>
          </a:p>
          <a:p>
            <a:r>
              <a:rPr lang="en-CA" b="1" dirty="0" smtClean="0"/>
              <a:t>music festival </a:t>
            </a:r>
            <a:r>
              <a:rPr lang="en-CA" dirty="0" smtClean="0"/>
              <a:t>(noun): an event where different bands play music</a:t>
            </a:r>
            <a:br>
              <a:rPr lang="en-CA" dirty="0" smtClean="0"/>
            </a:br>
            <a:r>
              <a:rPr lang="en-CA" dirty="0"/>
              <a:t>e.g. </a:t>
            </a:r>
            <a:r>
              <a:rPr lang="en-CA" dirty="0" smtClean="0"/>
              <a:t>I go to the music festival in the park every year.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3524250" y="5571835"/>
            <a:ext cx="2978150" cy="1644650"/>
          </a:xfrm>
        </p:spPr>
        <p:txBody>
          <a:bodyPr/>
          <a:lstStyle/>
          <a:p>
            <a:r>
              <a:rPr lang="en-CA" b="1" dirty="0"/>
              <a:t>to visit </a:t>
            </a:r>
            <a:r>
              <a:rPr lang="en-CA" dirty="0"/>
              <a:t>(verb</a:t>
            </a:r>
            <a:r>
              <a:rPr lang="en-CA" dirty="0" smtClean="0"/>
              <a:t>): </a:t>
            </a:r>
            <a:r>
              <a:rPr lang="en-CA" dirty="0"/>
              <a:t>to go to a place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Let’s </a:t>
            </a:r>
            <a:r>
              <a:rPr lang="en-CA" dirty="0"/>
              <a:t>visit the gallery tomorrow. </a:t>
            </a:r>
            <a:endParaRPr lang="en-CA" dirty="0" smtClean="0"/>
          </a:p>
          <a:p>
            <a:r>
              <a:rPr lang="en-CA" b="1" dirty="0" smtClean="0"/>
              <a:t>museum</a:t>
            </a:r>
            <a:r>
              <a:rPr lang="en-CA" dirty="0" smtClean="0"/>
              <a:t> </a:t>
            </a:r>
            <a:r>
              <a:rPr lang="en-CA" dirty="0"/>
              <a:t>(noun</a:t>
            </a:r>
            <a:r>
              <a:rPr lang="en-CA" dirty="0" smtClean="0"/>
              <a:t>): </a:t>
            </a:r>
            <a:r>
              <a:rPr lang="en-CA" dirty="0"/>
              <a:t>a building to see art or historic items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We </a:t>
            </a:r>
            <a:r>
              <a:rPr lang="en-CA" dirty="0"/>
              <a:t>can see the dinosaurs at the museum. </a:t>
            </a:r>
            <a:endParaRPr lang="en-CA" dirty="0" smtClean="0"/>
          </a:p>
          <a:p>
            <a:r>
              <a:rPr lang="en-CA" b="1" dirty="0" smtClean="0"/>
              <a:t>show</a:t>
            </a:r>
            <a:r>
              <a:rPr lang="en-CA" dirty="0" smtClean="0"/>
              <a:t> </a:t>
            </a:r>
            <a:r>
              <a:rPr lang="en-CA" dirty="0"/>
              <a:t>(noun</a:t>
            </a:r>
            <a:r>
              <a:rPr lang="en-CA" dirty="0" smtClean="0"/>
              <a:t>): </a:t>
            </a:r>
            <a:r>
              <a:rPr lang="en-CA" dirty="0"/>
              <a:t>a concert; a play; a performance; art exhibit</a:t>
            </a:r>
            <a:br>
              <a:rPr lang="en-CA" dirty="0"/>
            </a:br>
            <a:r>
              <a:rPr lang="en-CA" dirty="0"/>
              <a:t>e.g. </a:t>
            </a:r>
            <a:r>
              <a:rPr lang="en-CA" dirty="0" smtClean="0"/>
              <a:t>There </a:t>
            </a:r>
            <a:r>
              <a:rPr lang="en-CA" dirty="0"/>
              <a:t>is an art show in the park today. </a:t>
            </a:r>
          </a:p>
          <a:p>
            <a:endParaRPr lang="en-CA" dirty="0"/>
          </a:p>
        </p:txBody>
      </p:sp>
      <p:sp>
        <p:nvSpPr>
          <p:cNvPr id="6" name="TextBox 4"/>
          <p:cNvSpPr txBox="1"/>
          <p:nvPr/>
        </p:nvSpPr>
        <p:spPr>
          <a:xfrm>
            <a:off x="524815" y="2558670"/>
            <a:ext cx="2910594" cy="1695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28600" indent="-228600" fontAlgn="base">
              <a:lnSpc>
                <a:spcPct val="150000"/>
              </a:lnSpc>
              <a:buFont typeface="+mj-lt"/>
              <a:buAutoNum type="alphaLcParenR"/>
            </a:pPr>
            <a:r>
              <a:rPr lang="en-US" sz="1000" dirty="0"/>
              <a:t>Get a tourist map or look </a:t>
            </a:r>
            <a:r>
              <a:rPr lang="en-US" sz="1000" dirty="0" smtClean="0"/>
              <a:t>online.</a:t>
            </a:r>
          </a:p>
          <a:p>
            <a:pPr marL="228600" indent="-228600" fontAlgn="base">
              <a:lnSpc>
                <a:spcPct val="150000"/>
              </a:lnSpc>
              <a:buFont typeface="+mj-lt"/>
              <a:buAutoNum type="alphaLcParenR"/>
            </a:pPr>
            <a:r>
              <a:rPr lang="en-US" sz="1000" dirty="0" smtClean="0"/>
              <a:t>Make </a:t>
            </a:r>
            <a:r>
              <a:rPr lang="en-US" sz="1000" dirty="0"/>
              <a:t>a list of places to go with a </a:t>
            </a:r>
            <a:r>
              <a:rPr lang="en-US" sz="1000" dirty="0" smtClean="0"/>
              <a:t>friend.</a:t>
            </a:r>
          </a:p>
          <a:p>
            <a:pPr marL="228600" indent="-228600" fontAlgn="base">
              <a:lnSpc>
                <a:spcPct val="150000"/>
              </a:lnSpc>
              <a:buFont typeface="+mj-lt"/>
              <a:buAutoNum type="alphaLcParenR"/>
            </a:pPr>
            <a:r>
              <a:rPr lang="en-US" sz="1000" dirty="0" smtClean="0"/>
              <a:t>Find </a:t>
            </a:r>
            <a:r>
              <a:rPr lang="en-US" sz="1000" dirty="0"/>
              <a:t>the English words for </a:t>
            </a:r>
            <a:r>
              <a:rPr lang="en-US" sz="1000" dirty="0" smtClean="0"/>
              <a:t>places.</a:t>
            </a:r>
          </a:p>
          <a:p>
            <a:pPr marL="228600" indent="-228600" fontAlgn="base">
              <a:lnSpc>
                <a:spcPct val="150000"/>
              </a:lnSpc>
              <a:buFont typeface="+mj-lt"/>
              <a:buAutoNum type="alphaLcParenR"/>
            </a:pPr>
            <a:r>
              <a:rPr lang="en-US" sz="1000" dirty="0" smtClean="0"/>
              <a:t>Write </a:t>
            </a:r>
            <a:r>
              <a:rPr lang="en-US" sz="1000" dirty="0"/>
              <a:t>a short </a:t>
            </a:r>
            <a:r>
              <a:rPr lang="en-US" sz="1000" dirty="0" smtClean="0"/>
              <a:t>dialogue.</a:t>
            </a:r>
          </a:p>
          <a:p>
            <a:pPr marL="228600" indent="-228600" fontAlgn="base">
              <a:lnSpc>
                <a:spcPct val="150000"/>
              </a:lnSpc>
              <a:buFont typeface="+mj-lt"/>
              <a:buAutoNum type="alphaLcParenR"/>
            </a:pPr>
            <a:r>
              <a:rPr lang="en-US" sz="1000" dirty="0" smtClean="0"/>
              <a:t>Invite </a:t>
            </a:r>
            <a:r>
              <a:rPr lang="en-US" sz="1000" dirty="0"/>
              <a:t>a friend to go </a:t>
            </a:r>
            <a:r>
              <a:rPr lang="en-US" sz="1000" dirty="0" smtClean="0"/>
              <a:t>sightseeing.</a:t>
            </a:r>
          </a:p>
          <a:p>
            <a:pPr marL="228600" indent="-228600" fontAlgn="base">
              <a:lnSpc>
                <a:spcPct val="150000"/>
              </a:lnSpc>
              <a:buFont typeface="+mj-lt"/>
              <a:buAutoNum type="alphaLcParenR"/>
            </a:pPr>
            <a:r>
              <a:rPr lang="en-US" sz="1000" dirty="0" smtClean="0"/>
              <a:t>Give </a:t>
            </a:r>
            <a:r>
              <a:rPr lang="en-US" sz="1000" dirty="0"/>
              <a:t>2 or 3 sightseeing activity </a:t>
            </a:r>
            <a:r>
              <a:rPr lang="en-US" sz="1000" dirty="0" smtClean="0"/>
              <a:t>ideas.</a:t>
            </a:r>
          </a:p>
          <a:p>
            <a:pPr marL="228600" indent="-228600" fontAlgn="base">
              <a:lnSpc>
                <a:spcPct val="150000"/>
              </a:lnSpc>
              <a:buFont typeface="+mj-lt"/>
              <a:buAutoNum type="alphaLcParenR"/>
            </a:pPr>
            <a:r>
              <a:rPr lang="en-US" sz="1000" dirty="0" smtClean="0"/>
              <a:t>Practice </a:t>
            </a:r>
            <a:r>
              <a:rPr lang="en-US" sz="1000" dirty="0"/>
              <a:t>the dialogue with a friend.</a:t>
            </a:r>
          </a:p>
        </p:txBody>
      </p:sp>
      <p:grpSp>
        <p:nvGrpSpPr>
          <p:cNvPr id="7" name="Grupo 1"/>
          <p:cNvGrpSpPr/>
          <p:nvPr/>
        </p:nvGrpSpPr>
        <p:grpSpPr>
          <a:xfrm>
            <a:off x="3578918" y="2406278"/>
            <a:ext cx="2910781" cy="2228512"/>
            <a:chOff x="3448051" y="2431712"/>
            <a:chExt cx="2904574" cy="2020283"/>
          </a:xfrm>
        </p:grpSpPr>
        <p:grpSp>
          <p:nvGrpSpPr>
            <p:cNvPr id="8" name="Group 5"/>
            <p:cNvGrpSpPr/>
            <p:nvPr/>
          </p:nvGrpSpPr>
          <p:grpSpPr>
            <a:xfrm>
              <a:off x="5471705" y="2499081"/>
              <a:ext cx="743391" cy="1706569"/>
              <a:chOff x="5471705" y="6290397"/>
              <a:chExt cx="743391" cy="1706569"/>
            </a:xfrm>
          </p:grpSpPr>
          <p:sp>
            <p:nvSpPr>
              <p:cNvPr id="11" name="Shape 193"/>
              <p:cNvSpPr/>
              <p:nvPr/>
            </p:nvSpPr>
            <p:spPr>
              <a:xfrm>
                <a:off x="5471705" y="6290397"/>
                <a:ext cx="316272" cy="28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lIns="0" tIns="0" rIns="0" bIns="0" anchor="ctr"/>
              <a:lstStyle>
                <a:lvl1pPr algn="ctr">
                  <a:defRPr sz="1000" b="1">
                    <a:solidFill>
                      <a:srgbClr val="FFFFFF"/>
                    </a:solid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1000" b="1" dirty="0" smtClean="0">
                    <a:solidFill>
                      <a:srgbClr val="FFFFFF"/>
                    </a:solidFill>
                  </a:rPr>
                  <a:t>Y</a:t>
                </a:r>
                <a:r>
                  <a:rPr lang="en-US" sz="1000" b="1" dirty="0" smtClean="0">
                    <a:solidFill>
                      <a:srgbClr val="FFFFFF"/>
                    </a:solidFill>
                  </a:rPr>
                  <a:t>es</a:t>
                </a:r>
                <a:endParaRPr sz="1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Shape 194"/>
              <p:cNvSpPr/>
              <p:nvPr/>
            </p:nvSpPr>
            <p:spPr>
              <a:xfrm>
                <a:off x="5925505" y="6295274"/>
                <a:ext cx="289591" cy="28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lIns="0" tIns="0" rIns="0" bIns="0" anchor="ctr"/>
              <a:lstStyle>
                <a:lvl1pPr algn="ctr">
                  <a:defRPr sz="1000" b="1">
                    <a:solidFill>
                      <a:srgbClr val="FFFFFF"/>
                    </a:solid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1000" b="1" dirty="0" smtClean="0">
                    <a:solidFill>
                      <a:srgbClr val="FFFFFF"/>
                    </a:solidFill>
                  </a:rPr>
                  <a:t>N</a:t>
                </a:r>
                <a:r>
                  <a:rPr lang="en-US" sz="1000" b="1" dirty="0" smtClean="0">
                    <a:solidFill>
                      <a:srgbClr val="FFFFFF"/>
                    </a:solidFill>
                  </a:rPr>
                  <a:t>o</a:t>
                </a:r>
                <a:endParaRPr sz="1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Shape 200"/>
              <p:cNvSpPr/>
              <p:nvPr/>
            </p:nvSpPr>
            <p:spPr>
              <a:xfrm>
                <a:off x="5516805" y="6702850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4" name="Shape 201"/>
              <p:cNvSpPr/>
              <p:nvPr/>
            </p:nvSpPr>
            <p:spPr>
              <a:xfrm>
                <a:off x="5934497" y="6700878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" name="Shape 202"/>
              <p:cNvSpPr/>
              <p:nvPr/>
            </p:nvSpPr>
            <p:spPr>
              <a:xfrm>
                <a:off x="5529097" y="7054087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" name="Shape 203"/>
              <p:cNvSpPr/>
              <p:nvPr/>
            </p:nvSpPr>
            <p:spPr>
              <a:xfrm>
                <a:off x="5933101" y="7042998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7" name="Shape 204"/>
              <p:cNvSpPr/>
              <p:nvPr/>
            </p:nvSpPr>
            <p:spPr>
              <a:xfrm>
                <a:off x="5514557" y="7384779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8" name="Shape 205"/>
              <p:cNvSpPr/>
              <p:nvPr/>
            </p:nvSpPr>
            <p:spPr>
              <a:xfrm>
                <a:off x="5933102" y="7383241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9" name="Shape 204"/>
              <p:cNvSpPr/>
              <p:nvPr/>
            </p:nvSpPr>
            <p:spPr>
              <a:xfrm>
                <a:off x="5533564" y="7726966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0" name="Shape 205"/>
              <p:cNvSpPr/>
              <p:nvPr/>
            </p:nvSpPr>
            <p:spPr>
              <a:xfrm>
                <a:off x="5926765" y="7725428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9" name="Shape 225"/>
            <p:cNvSpPr/>
            <p:nvPr/>
          </p:nvSpPr>
          <p:spPr>
            <a:xfrm>
              <a:off x="3572824" y="2491034"/>
              <a:ext cx="1774107" cy="196096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 defTabSz="685800">
                <a:buSzPct val="100000"/>
              </a:pPr>
              <a:r>
                <a:rPr 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/>
                  <a:cs typeface="Verdana"/>
                </a:rPr>
                <a:t>Self </a:t>
              </a:r>
              <a:r>
                <a:rPr lang="en-US" sz="11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/>
                  <a:cs typeface="Verdana"/>
                </a:rPr>
                <a:t>Assessment</a:t>
              </a:r>
            </a:p>
            <a:p>
              <a:pPr algn="l" defTabSz="685800">
                <a:lnSpc>
                  <a:spcPct val="70000"/>
                </a:lnSpc>
                <a:buSzPct val="100000"/>
              </a:pPr>
              <a:endParaRPr 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endParaRPr>
            </a:p>
            <a:p>
              <a:pPr algn="l" defTabSz="685800">
                <a:lnSpc>
                  <a:spcPct val="70000"/>
                </a:lnSpc>
                <a:buSzPct val="100000"/>
              </a:pPr>
              <a:endPara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endParaRPr>
            </a:p>
            <a:p>
              <a:pPr fontAlgn="base"/>
              <a:r>
                <a:rPr lang="en-US" sz="1000" dirty="0"/>
                <a:t>I </a:t>
              </a:r>
              <a:r>
                <a:rPr lang="en-US" sz="1000" dirty="0" smtClean="0"/>
                <a:t>identify 3 </a:t>
              </a:r>
              <a:r>
                <a:rPr lang="en-US" sz="1000" dirty="0"/>
                <a:t>or 4 places to go</a:t>
              </a:r>
              <a:r>
                <a:rPr lang="en-US" sz="1000" dirty="0" smtClean="0"/>
                <a:t>.</a:t>
              </a:r>
            </a:p>
            <a:p>
              <a:pPr fontAlgn="base">
                <a:lnSpc>
                  <a:spcPct val="90000"/>
                </a:lnSpc>
              </a:pPr>
              <a:endParaRPr lang="en-US" sz="1000" dirty="0"/>
            </a:p>
            <a:p>
              <a:pPr fontAlgn="base"/>
              <a:r>
                <a:rPr lang="en-US" sz="1000" dirty="0"/>
                <a:t>I </a:t>
              </a:r>
              <a:r>
                <a:rPr lang="en-US" sz="1000" dirty="0" smtClean="0"/>
                <a:t>identify the English words for theses place.</a:t>
              </a:r>
              <a:endParaRPr lang="en-US" sz="1000" dirty="0"/>
            </a:p>
            <a:p>
              <a:pPr fontAlgn="base"/>
              <a:endParaRPr lang="en-US" sz="1000" dirty="0"/>
            </a:p>
            <a:p>
              <a:pPr fontAlgn="base"/>
              <a:r>
                <a:rPr lang="en-US" sz="1000" dirty="0"/>
                <a:t>I use 3 target words</a:t>
              </a:r>
              <a:r>
                <a:rPr lang="en-US" sz="1000" dirty="0" smtClean="0"/>
                <a:t>.</a:t>
              </a:r>
            </a:p>
            <a:p>
              <a:pPr fontAlgn="base"/>
              <a:endParaRPr lang="en-US" sz="1000" dirty="0"/>
            </a:p>
            <a:p>
              <a:pPr fontAlgn="base"/>
              <a:r>
                <a:rPr lang="en-US" sz="1000" dirty="0"/>
                <a:t>I </a:t>
              </a:r>
              <a:r>
                <a:rPr lang="en-US" sz="1000" dirty="0" smtClean="0"/>
                <a:t>write a dialogue about sightseeing.</a:t>
              </a:r>
            </a:p>
            <a:p>
              <a:pPr fontAlgn="base"/>
              <a:endParaRPr lang="en-US" sz="1000" dirty="0"/>
            </a:p>
          </p:txBody>
        </p:sp>
        <p:sp>
          <p:nvSpPr>
            <p:cNvPr id="10" name="Rounded Rectangle 6"/>
            <p:cNvSpPr/>
            <p:nvPr/>
          </p:nvSpPr>
          <p:spPr>
            <a:xfrm>
              <a:off x="3448051" y="2431712"/>
              <a:ext cx="2904574" cy="1888630"/>
            </a:xfrm>
            <a:prstGeom prst="roundRect">
              <a:avLst>
                <a:gd name="adj" fmla="val 11375"/>
              </a:avLst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beve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21" name="Rectangle 3"/>
          <p:cNvSpPr/>
          <p:nvPr/>
        </p:nvSpPr>
        <p:spPr>
          <a:xfrm>
            <a:off x="463550" y="1547739"/>
            <a:ext cx="5144296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100" dirty="0">
                <a:latin typeface="Verdana"/>
                <a:cs typeface="Verdana"/>
              </a:rPr>
              <a:t>Let’s think about sightseeing activities! Where can you go sightseeing </a:t>
            </a:r>
            <a:endParaRPr lang="en-CA" sz="1100" dirty="0" smtClean="0">
              <a:latin typeface="Verdana"/>
              <a:cs typeface="Verdana"/>
            </a:endParaRPr>
          </a:p>
          <a:p>
            <a:r>
              <a:rPr lang="en-CA" sz="1100" dirty="0" smtClean="0">
                <a:latin typeface="Verdana"/>
                <a:cs typeface="Verdana"/>
              </a:rPr>
              <a:t>in your city?</a:t>
            </a:r>
            <a:endParaRPr lang="en-CA" sz="1100" dirty="0" smtClean="0">
              <a:latin typeface="Verdana"/>
              <a:ea typeface="Verdana" panose="020B0604030504040204" pitchFamily="34" charset="0"/>
              <a:cs typeface="Verdana"/>
            </a:endParaRPr>
          </a:p>
          <a:p>
            <a:endParaRPr lang="en-CA" sz="1000" i="1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Instructions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following steps. 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Fill 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the Self Assessment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CA" sz="1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This One or That One?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6175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82933" y="1593018"/>
            <a:ext cx="5226050" cy="412750"/>
          </a:xfrm>
        </p:spPr>
        <p:txBody>
          <a:bodyPr/>
          <a:lstStyle/>
          <a:p>
            <a:r>
              <a:rPr lang="en-CA" b="1" dirty="0"/>
              <a:t>Demonstrative Adjectives This and That</a:t>
            </a:r>
          </a:p>
          <a:p>
            <a:endParaRPr lang="en-C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82933" y="5079495"/>
            <a:ext cx="5942933" cy="356937"/>
          </a:xfrm>
        </p:spPr>
        <p:txBody>
          <a:bodyPr/>
          <a:lstStyle/>
          <a:p>
            <a:r>
              <a:rPr lang="en-CA" dirty="0"/>
              <a:t>You make the negative form by adding </a:t>
            </a:r>
            <a:r>
              <a:rPr lang="en-CA" b="1" dirty="0"/>
              <a:t>not</a:t>
            </a:r>
            <a:r>
              <a:rPr lang="en-CA" dirty="0"/>
              <a:t> after the verb.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784834"/>
              </p:ext>
            </p:extLst>
          </p:nvPr>
        </p:nvGraphicFramePr>
        <p:xfrm>
          <a:off x="564248" y="3197916"/>
          <a:ext cx="5861617" cy="1547308"/>
        </p:xfrm>
        <a:graphic>
          <a:graphicData uri="http://schemas.openxmlformats.org/drawingml/2006/table">
            <a:tbl>
              <a:tblPr/>
              <a:tblGrid>
                <a:gridCol w="2090909"/>
                <a:gridCol w="1935705"/>
                <a:gridCol w="1835003"/>
              </a:tblGrid>
              <a:tr h="392273">
                <a:tc>
                  <a:txBody>
                    <a:bodyPr/>
                    <a:lstStyle/>
                    <a:p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00" b="1" i="0" dirty="0" smtClean="0">
                          <a:solidFill>
                            <a:schemeClr val="tx1"/>
                          </a:solidFill>
                        </a:rPr>
                        <a:t>Demonstrative Adjective</a:t>
                      </a:r>
                      <a:endParaRPr lang="en-CA" sz="10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00" b="1" i="0" dirty="0" smtClean="0">
                          <a:solidFill>
                            <a:schemeClr val="tx1"/>
                          </a:solidFill>
                        </a:rPr>
                        <a:t>Example</a:t>
                      </a:r>
                      <a:endParaRPr lang="en-CA" sz="10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602428">
                <a:tc>
                  <a:txBody>
                    <a:bodyPr/>
                    <a:lstStyle/>
                    <a:p>
                      <a:pPr algn="ctr"/>
                      <a:r>
                        <a:rPr lang="en-CA" sz="1000" b="1" dirty="0" smtClean="0">
                          <a:solidFill>
                            <a:schemeClr val="tx1"/>
                          </a:solidFill>
                        </a:rPr>
                        <a:t>near</a:t>
                      </a:r>
                    </a:p>
                    <a:p>
                      <a:pPr algn="ctr"/>
                      <a:r>
                        <a:rPr lang="en-CA" sz="1000" b="1" dirty="0" smtClean="0">
                          <a:solidFill>
                            <a:schemeClr val="tx1"/>
                          </a:solidFill>
                        </a:rPr>
                        <a:t>(here)</a:t>
                      </a:r>
                      <a:endParaRPr lang="en-CA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dirty="0" smtClean="0">
                          <a:solidFill>
                            <a:schemeClr val="tx1"/>
                          </a:solidFill>
                        </a:rPr>
                        <a:t>this (book) here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This lemon ice cream here is interesting.</a:t>
                      </a:r>
                    </a:p>
                    <a:p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273">
                <a:tc>
                  <a:txBody>
                    <a:bodyPr/>
                    <a:lstStyle/>
                    <a:p>
                      <a:pPr algn="ctr"/>
                      <a:r>
                        <a:rPr lang="en-CA" sz="1000" b="1" dirty="0" smtClean="0">
                          <a:solidFill>
                            <a:schemeClr val="tx1"/>
                          </a:solidFill>
                        </a:rPr>
                        <a:t>far</a:t>
                      </a:r>
                    </a:p>
                    <a:p>
                      <a:pPr algn="ctr"/>
                      <a:r>
                        <a:rPr lang="en-CA" sz="1000" b="1" dirty="0" smtClean="0">
                          <a:solidFill>
                            <a:schemeClr val="tx1"/>
                          </a:solidFill>
                        </a:rPr>
                        <a:t>(there/over there/back there)</a:t>
                      </a:r>
                      <a:endParaRPr lang="en-CA" sz="1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dirty="0" smtClean="0">
                          <a:solidFill>
                            <a:schemeClr val="tx1"/>
                          </a:solidFill>
                        </a:rPr>
                        <a:t>that (book) over there</a:t>
                      </a:r>
                      <a:endParaRPr lang="en-C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i="1" dirty="0" smtClean="0">
                          <a:solidFill>
                            <a:schemeClr val="tx1"/>
                          </a:solidFill>
                        </a:rPr>
                        <a:t>That coffee ice cream back there looks good.</a:t>
                      </a:r>
                      <a:endParaRPr lang="en-CA" sz="10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 Placeholder 5"/>
          <p:cNvSpPr txBox="1">
            <a:spLocks/>
          </p:cNvSpPr>
          <p:nvPr/>
        </p:nvSpPr>
        <p:spPr>
          <a:xfrm>
            <a:off x="482932" y="2005768"/>
            <a:ext cx="5942933" cy="9224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 smtClean="0"/>
              <a:t>Demonstrative adjectives point something out. You use </a:t>
            </a:r>
            <a:r>
              <a:rPr lang="en-CA" b="1" dirty="0" smtClean="0"/>
              <a:t>this</a:t>
            </a:r>
            <a:r>
              <a:rPr lang="en-CA" dirty="0" smtClean="0"/>
              <a:t> when something is close. You use </a:t>
            </a:r>
            <a:r>
              <a:rPr lang="en-CA" b="1" dirty="0" smtClean="0"/>
              <a:t>that</a:t>
            </a:r>
            <a:r>
              <a:rPr lang="en-CA" dirty="0" smtClean="0"/>
              <a:t> when something is far.</a:t>
            </a:r>
            <a:br>
              <a:rPr lang="en-CA" dirty="0" smtClean="0"/>
            </a:br>
            <a:endParaRPr lang="en-CA" dirty="0" smtClean="0"/>
          </a:p>
          <a:p>
            <a:r>
              <a:rPr lang="en-CA" dirty="0" smtClean="0"/>
              <a:t>The demonstrative adjective goes in front of the noun.</a:t>
            </a:r>
            <a:br>
              <a:rPr lang="en-CA" dirty="0" smtClean="0"/>
            </a:br>
            <a:r>
              <a:rPr lang="en-CA" dirty="0" smtClean="0"/>
              <a:t>this + noun (this book) or that + noun (that store)</a:t>
            </a:r>
            <a:endParaRPr lang="en-CA" dirty="0"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-491479"/>
            <a:ext cx="21378" cy="8867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380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ource Sans Pro"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ource Sans Pro"/>
              </a:rPr>
            </a:b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Source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 Placeholder 5"/>
          <p:cNvSpPr txBox="1">
            <a:spLocks/>
          </p:cNvSpPr>
          <p:nvPr/>
        </p:nvSpPr>
        <p:spPr>
          <a:xfrm>
            <a:off x="482934" y="5601323"/>
            <a:ext cx="3456740" cy="1118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 dirty="0" smtClean="0"/>
              <a:t>Examples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i="1" dirty="0"/>
              <a:t>That shop over there is </a:t>
            </a:r>
            <a:r>
              <a:rPr lang="en-CA" b="1" i="1" dirty="0"/>
              <a:t>not</a:t>
            </a:r>
            <a:r>
              <a:rPr lang="en-CA" i="1" dirty="0"/>
              <a:t> expensive.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i="1" dirty="0"/>
              <a:t>This one here does </a:t>
            </a:r>
            <a:r>
              <a:rPr lang="en-CA" b="1" i="1" dirty="0"/>
              <a:t>not</a:t>
            </a:r>
            <a:r>
              <a:rPr lang="en-CA" i="1" dirty="0"/>
              <a:t> have cheaper </a:t>
            </a:r>
            <a:r>
              <a:rPr lang="en-CA" i="1" dirty="0" smtClean="0"/>
              <a:t>food.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dirty="0" smtClean="0"/>
              <a:t>This </a:t>
            </a:r>
            <a:r>
              <a:rPr lang="en-US" i="1" dirty="0"/>
              <a:t>one here is strawberry </a:t>
            </a:r>
            <a:r>
              <a:rPr lang="en-US" i="1" dirty="0" smtClean="0"/>
              <a:t>mango.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dirty="0" smtClean="0"/>
              <a:t>That </a:t>
            </a:r>
            <a:r>
              <a:rPr lang="en-US" i="1" dirty="0"/>
              <a:t>one at the back is mocha crunch!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i="1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-51657"/>
            <a:ext cx="21378" cy="8867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380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ource Sans Pro"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ource Sans Pro"/>
              </a:rPr>
            </a:b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Source Sans 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This One or That One?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26732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="" xmlns:ma14="http://schemas.microsoft.com/office/mac/drawingml/2011/main" val="1"/>
          </a:ext>
        </a:extLst>
      </a:spPr>
      <a:bodyPr wrap="square" lIns="0" tIns="0" rIns="0" bIns="0">
        <a:spAutoFit/>
      </a:bodyPr>
      <a:lstStyle>
        <a:defPPr marL="110289" indent="-110289" defTabSz="685800">
          <a:spcAft>
            <a:spcPts val="200"/>
          </a:spcAft>
          <a:buSzPct val="100000"/>
          <a:buChar char="•"/>
          <a:defRPr sz="1000" b="1" dirty="0" smtClean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  <a:sym typeface="Myriad Pro Semibold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2071</TotalTime>
  <Words>489</Words>
  <Application>Microsoft Office PowerPoint</Application>
  <PresentationFormat>On-screen Show (4:3)</PresentationFormat>
  <Paragraphs>103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Helvetica</vt:lpstr>
      <vt:lpstr>Helvetica Neue</vt:lpstr>
      <vt:lpstr>Myriad Pro</vt:lpstr>
      <vt:lpstr>Myriad Pro Semibold</vt:lpstr>
      <vt:lpstr>Source Sans Pro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Aamir</dc:creator>
  <cp:lastModifiedBy>Vidhya Elango</cp:lastModifiedBy>
  <cp:revision>178</cp:revision>
  <cp:lastPrinted>2015-07-20T14:27:31Z</cp:lastPrinted>
  <dcterms:created xsi:type="dcterms:W3CDTF">2015-07-06T14:08:02Z</dcterms:created>
  <dcterms:modified xsi:type="dcterms:W3CDTF">2015-09-29T14:01:44Z</dcterms:modified>
</cp:coreProperties>
</file>